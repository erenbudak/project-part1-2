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0" d="100"/>
          <a:sy n="80" d="100"/>
        </p:scale>
        <p:origin x="82"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BBCE54-5015-4EB9-9B03-FA7B41B9ADD3}"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28FDDF2A-77E6-4831-BAD1-359B8845759F}">
      <dgm:prSet/>
      <dgm:spPr/>
      <dgm:t>
        <a:bodyPr/>
        <a:lstStyle/>
        <a:p>
          <a:r>
            <a:rPr lang="tr-TR"/>
            <a:t>EREN BUDAK</a:t>
          </a:r>
          <a:endParaRPr lang="en-US"/>
        </a:p>
      </dgm:t>
    </dgm:pt>
    <dgm:pt modelId="{AC6B1D0F-1E04-428D-8C1D-26EC7351FAEB}" type="parTrans" cxnId="{CF7331B1-F50F-4022-942A-1D6CB734B9E7}">
      <dgm:prSet/>
      <dgm:spPr/>
      <dgm:t>
        <a:bodyPr/>
        <a:lstStyle/>
        <a:p>
          <a:endParaRPr lang="en-US"/>
        </a:p>
      </dgm:t>
    </dgm:pt>
    <dgm:pt modelId="{6F7DF431-6707-4A63-9051-C6CE1ECBE5B9}" type="sibTrans" cxnId="{CF7331B1-F50F-4022-942A-1D6CB734B9E7}">
      <dgm:prSet/>
      <dgm:spPr/>
      <dgm:t>
        <a:bodyPr/>
        <a:lstStyle/>
        <a:p>
          <a:endParaRPr lang="en-US"/>
        </a:p>
      </dgm:t>
    </dgm:pt>
    <dgm:pt modelId="{2BA1FA71-D944-4285-BE3D-FB5E88C783C8}">
      <dgm:prSet/>
      <dgm:spPr/>
      <dgm:t>
        <a:bodyPr/>
        <a:lstStyle/>
        <a:p>
          <a:r>
            <a:rPr lang="tr-TR"/>
            <a:t>231401007</a:t>
          </a:r>
          <a:endParaRPr lang="en-US"/>
        </a:p>
      </dgm:t>
    </dgm:pt>
    <dgm:pt modelId="{05A9CAAF-DFF0-4147-8DCB-FD6A6708B5F6}" type="parTrans" cxnId="{F90289C6-3E0D-437B-94F9-9D3385C454EF}">
      <dgm:prSet/>
      <dgm:spPr/>
      <dgm:t>
        <a:bodyPr/>
        <a:lstStyle/>
        <a:p>
          <a:endParaRPr lang="en-US"/>
        </a:p>
      </dgm:t>
    </dgm:pt>
    <dgm:pt modelId="{B2AE041F-2479-4F48-860B-468434AC1210}" type="sibTrans" cxnId="{F90289C6-3E0D-437B-94F9-9D3385C454EF}">
      <dgm:prSet/>
      <dgm:spPr/>
      <dgm:t>
        <a:bodyPr/>
        <a:lstStyle/>
        <a:p>
          <a:endParaRPr lang="en-US"/>
        </a:p>
      </dgm:t>
    </dgm:pt>
    <dgm:pt modelId="{050C6D01-7B69-4C70-90C2-8EF9BD7D682C}" type="pres">
      <dgm:prSet presAssocID="{3EBBCE54-5015-4EB9-9B03-FA7B41B9ADD3}" presName="diagram" presStyleCnt="0">
        <dgm:presLayoutVars>
          <dgm:chPref val="1"/>
          <dgm:dir/>
          <dgm:animOne val="branch"/>
          <dgm:animLvl val="lvl"/>
          <dgm:resizeHandles/>
        </dgm:presLayoutVars>
      </dgm:prSet>
      <dgm:spPr/>
    </dgm:pt>
    <dgm:pt modelId="{C41F17F3-499E-4B40-9209-A346DAA653FD}" type="pres">
      <dgm:prSet presAssocID="{28FDDF2A-77E6-4831-BAD1-359B8845759F}" presName="root" presStyleCnt="0"/>
      <dgm:spPr/>
    </dgm:pt>
    <dgm:pt modelId="{FD04CB1E-2685-42D4-95CF-1BBF81A35C84}" type="pres">
      <dgm:prSet presAssocID="{28FDDF2A-77E6-4831-BAD1-359B8845759F}" presName="rootComposite" presStyleCnt="0"/>
      <dgm:spPr/>
    </dgm:pt>
    <dgm:pt modelId="{E166B757-C625-43AE-9A48-A137CA721329}" type="pres">
      <dgm:prSet presAssocID="{28FDDF2A-77E6-4831-BAD1-359B8845759F}" presName="rootText" presStyleLbl="node1" presStyleIdx="0" presStyleCnt="2"/>
      <dgm:spPr/>
    </dgm:pt>
    <dgm:pt modelId="{94CFBC30-62B3-4311-8B12-82246374CD55}" type="pres">
      <dgm:prSet presAssocID="{28FDDF2A-77E6-4831-BAD1-359B8845759F}" presName="rootConnector" presStyleLbl="node1" presStyleIdx="0" presStyleCnt="2"/>
      <dgm:spPr/>
    </dgm:pt>
    <dgm:pt modelId="{EE0495C5-E6FA-4D7A-8AD4-0D6EE8F4F45C}" type="pres">
      <dgm:prSet presAssocID="{28FDDF2A-77E6-4831-BAD1-359B8845759F}" presName="childShape" presStyleCnt="0"/>
      <dgm:spPr/>
    </dgm:pt>
    <dgm:pt modelId="{A84B2647-EA04-4C53-A361-1CFBA7299C72}" type="pres">
      <dgm:prSet presAssocID="{2BA1FA71-D944-4285-BE3D-FB5E88C783C8}" presName="root" presStyleCnt="0"/>
      <dgm:spPr/>
    </dgm:pt>
    <dgm:pt modelId="{76B16479-A504-47BA-8891-F8BFB4B96370}" type="pres">
      <dgm:prSet presAssocID="{2BA1FA71-D944-4285-BE3D-FB5E88C783C8}" presName="rootComposite" presStyleCnt="0"/>
      <dgm:spPr/>
    </dgm:pt>
    <dgm:pt modelId="{D94300F9-2DBD-4ACD-BC21-8D2AAB0939F3}" type="pres">
      <dgm:prSet presAssocID="{2BA1FA71-D944-4285-BE3D-FB5E88C783C8}" presName="rootText" presStyleLbl="node1" presStyleIdx="1" presStyleCnt="2"/>
      <dgm:spPr/>
    </dgm:pt>
    <dgm:pt modelId="{1738D034-D98C-4CC1-A225-8863AB483554}" type="pres">
      <dgm:prSet presAssocID="{2BA1FA71-D944-4285-BE3D-FB5E88C783C8}" presName="rootConnector" presStyleLbl="node1" presStyleIdx="1" presStyleCnt="2"/>
      <dgm:spPr/>
    </dgm:pt>
    <dgm:pt modelId="{5A040CF1-A4EE-4F7B-A22B-8FE1D077262B}" type="pres">
      <dgm:prSet presAssocID="{2BA1FA71-D944-4285-BE3D-FB5E88C783C8}" presName="childShape" presStyleCnt="0"/>
      <dgm:spPr/>
    </dgm:pt>
  </dgm:ptLst>
  <dgm:cxnLst>
    <dgm:cxn modelId="{2B28A206-8C51-464B-B47E-D6C88A301330}" type="presOf" srcId="{2BA1FA71-D944-4285-BE3D-FB5E88C783C8}" destId="{1738D034-D98C-4CC1-A225-8863AB483554}" srcOrd="1" destOrd="0" presId="urn:microsoft.com/office/officeart/2005/8/layout/hierarchy3"/>
    <dgm:cxn modelId="{FF4C5074-FA48-44FB-AB09-662E45EBEC5B}" type="presOf" srcId="{28FDDF2A-77E6-4831-BAD1-359B8845759F}" destId="{E166B757-C625-43AE-9A48-A137CA721329}" srcOrd="0" destOrd="0" presId="urn:microsoft.com/office/officeart/2005/8/layout/hierarchy3"/>
    <dgm:cxn modelId="{7DF17B93-D928-478A-9EB5-B1E14DE36EBF}" type="presOf" srcId="{28FDDF2A-77E6-4831-BAD1-359B8845759F}" destId="{94CFBC30-62B3-4311-8B12-82246374CD55}" srcOrd="1" destOrd="0" presId="urn:microsoft.com/office/officeart/2005/8/layout/hierarchy3"/>
    <dgm:cxn modelId="{CF7331B1-F50F-4022-942A-1D6CB734B9E7}" srcId="{3EBBCE54-5015-4EB9-9B03-FA7B41B9ADD3}" destId="{28FDDF2A-77E6-4831-BAD1-359B8845759F}" srcOrd="0" destOrd="0" parTransId="{AC6B1D0F-1E04-428D-8C1D-26EC7351FAEB}" sibTransId="{6F7DF431-6707-4A63-9051-C6CE1ECBE5B9}"/>
    <dgm:cxn modelId="{F90289C6-3E0D-437B-94F9-9D3385C454EF}" srcId="{3EBBCE54-5015-4EB9-9B03-FA7B41B9ADD3}" destId="{2BA1FA71-D944-4285-BE3D-FB5E88C783C8}" srcOrd="1" destOrd="0" parTransId="{05A9CAAF-DFF0-4147-8DCB-FD6A6708B5F6}" sibTransId="{B2AE041F-2479-4F48-860B-468434AC1210}"/>
    <dgm:cxn modelId="{BA062ECE-A968-43FE-9B10-2B4D0CE20DC0}" type="presOf" srcId="{2BA1FA71-D944-4285-BE3D-FB5E88C783C8}" destId="{D94300F9-2DBD-4ACD-BC21-8D2AAB0939F3}" srcOrd="0" destOrd="0" presId="urn:microsoft.com/office/officeart/2005/8/layout/hierarchy3"/>
    <dgm:cxn modelId="{A6E96ECF-0861-4BF3-9EC2-44037A0921EF}" type="presOf" srcId="{3EBBCE54-5015-4EB9-9B03-FA7B41B9ADD3}" destId="{050C6D01-7B69-4C70-90C2-8EF9BD7D682C}" srcOrd="0" destOrd="0" presId="urn:microsoft.com/office/officeart/2005/8/layout/hierarchy3"/>
    <dgm:cxn modelId="{AEE72E97-B7BA-4AE6-BA56-7503705FF0CA}" type="presParOf" srcId="{050C6D01-7B69-4C70-90C2-8EF9BD7D682C}" destId="{C41F17F3-499E-4B40-9209-A346DAA653FD}" srcOrd="0" destOrd="0" presId="urn:microsoft.com/office/officeart/2005/8/layout/hierarchy3"/>
    <dgm:cxn modelId="{5478F837-DD66-44FB-87BC-18A979B27C99}" type="presParOf" srcId="{C41F17F3-499E-4B40-9209-A346DAA653FD}" destId="{FD04CB1E-2685-42D4-95CF-1BBF81A35C84}" srcOrd="0" destOrd="0" presId="urn:microsoft.com/office/officeart/2005/8/layout/hierarchy3"/>
    <dgm:cxn modelId="{E45BBE0A-6BB2-42D7-8606-4C8F2A43B39C}" type="presParOf" srcId="{FD04CB1E-2685-42D4-95CF-1BBF81A35C84}" destId="{E166B757-C625-43AE-9A48-A137CA721329}" srcOrd="0" destOrd="0" presId="urn:microsoft.com/office/officeart/2005/8/layout/hierarchy3"/>
    <dgm:cxn modelId="{CFDBFE94-83A7-4452-9F97-C6D0D04E855D}" type="presParOf" srcId="{FD04CB1E-2685-42D4-95CF-1BBF81A35C84}" destId="{94CFBC30-62B3-4311-8B12-82246374CD55}" srcOrd="1" destOrd="0" presId="urn:microsoft.com/office/officeart/2005/8/layout/hierarchy3"/>
    <dgm:cxn modelId="{37BFFFCC-CA16-4B8E-A19A-7F485F5C654B}" type="presParOf" srcId="{C41F17F3-499E-4B40-9209-A346DAA653FD}" destId="{EE0495C5-E6FA-4D7A-8AD4-0D6EE8F4F45C}" srcOrd="1" destOrd="0" presId="urn:microsoft.com/office/officeart/2005/8/layout/hierarchy3"/>
    <dgm:cxn modelId="{4235D85A-E7EC-4FDA-AC92-E886B24FF623}" type="presParOf" srcId="{050C6D01-7B69-4C70-90C2-8EF9BD7D682C}" destId="{A84B2647-EA04-4C53-A361-1CFBA7299C72}" srcOrd="1" destOrd="0" presId="urn:microsoft.com/office/officeart/2005/8/layout/hierarchy3"/>
    <dgm:cxn modelId="{2BD7864F-0619-4CA9-9D97-CA93AA0AED16}" type="presParOf" srcId="{A84B2647-EA04-4C53-A361-1CFBA7299C72}" destId="{76B16479-A504-47BA-8891-F8BFB4B96370}" srcOrd="0" destOrd="0" presId="urn:microsoft.com/office/officeart/2005/8/layout/hierarchy3"/>
    <dgm:cxn modelId="{40001EF1-CFF2-4A5B-B619-E57E8C4FB8EA}" type="presParOf" srcId="{76B16479-A504-47BA-8891-F8BFB4B96370}" destId="{D94300F9-2DBD-4ACD-BC21-8D2AAB0939F3}" srcOrd="0" destOrd="0" presId="urn:microsoft.com/office/officeart/2005/8/layout/hierarchy3"/>
    <dgm:cxn modelId="{AF911B71-DD98-49D8-993C-CB0A169E30BE}" type="presParOf" srcId="{76B16479-A504-47BA-8891-F8BFB4B96370}" destId="{1738D034-D98C-4CC1-A225-8863AB483554}" srcOrd="1" destOrd="0" presId="urn:microsoft.com/office/officeart/2005/8/layout/hierarchy3"/>
    <dgm:cxn modelId="{D4A13950-6672-4A5C-966C-EF92B27BDE01}" type="presParOf" srcId="{A84B2647-EA04-4C53-A361-1CFBA7299C72}" destId="{5A040CF1-A4EE-4F7B-A22B-8FE1D077262B}"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6B757-C625-43AE-9A48-A137CA721329}">
      <dsp:nvSpPr>
        <dsp:cNvPr id="0" name=""/>
        <dsp:cNvSpPr/>
      </dsp:nvSpPr>
      <dsp:spPr>
        <a:xfrm>
          <a:off x="1333" y="882495"/>
          <a:ext cx="4855627" cy="24278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tr-TR" sz="6500" kern="1200"/>
            <a:t>EREN BUDAK</a:t>
          </a:r>
          <a:endParaRPr lang="en-US" sz="6500" kern="1200"/>
        </a:p>
      </dsp:txBody>
      <dsp:txXfrm>
        <a:off x="72441" y="953603"/>
        <a:ext cx="4713411" cy="2285597"/>
      </dsp:txXfrm>
    </dsp:sp>
    <dsp:sp modelId="{D94300F9-2DBD-4ACD-BC21-8D2AAB0939F3}">
      <dsp:nvSpPr>
        <dsp:cNvPr id="0" name=""/>
        <dsp:cNvSpPr/>
      </dsp:nvSpPr>
      <dsp:spPr>
        <a:xfrm>
          <a:off x="6070867" y="882495"/>
          <a:ext cx="4855627" cy="24278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tr-TR" sz="6500" kern="1200"/>
            <a:t>231401007</a:t>
          </a:r>
          <a:endParaRPr lang="en-US" sz="6500" kern="1200"/>
        </a:p>
      </dsp:txBody>
      <dsp:txXfrm>
        <a:off x="6141975" y="953603"/>
        <a:ext cx="4713411" cy="228559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4E61AC-64E2-793A-2EB1-6349F24E734D}"/>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C28C6D9D-3DC3-F409-8D2D-1160980110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3C140EC-46CB-C48A-44AD-562CA8139D29}"/>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2EEBE143-770C-713E-F3B9-E22C724870C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D1F9385-7542-A99F-449A-7DCEE9BA7DE3}"/>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841840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0E07C5-AFF6-D92E-AA0B-D2EFC86C319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09DCFE2-EF4A-859A-E59D-C88D809075C6}"/>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ECB46AA-79C9-D1F3-855E-27BBE48D9C64}"/>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5E1B3B62-2B09-0B7E-EB12-1ECBB9A1E482}"/>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5B46A80-2B99-3CED-995B-F73863D140EA}"/>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2348553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C336B3-083A-2174-7963-E3547C8A7D7C}"/>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55F64910-D788-EB7C-1A90-ABE61A2055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A8C61BEF-2E13-E20B-F626-8CF7BECC8A30}"/>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61DF1790-1DCF-E8EB-9A70-33D1FC2EB5C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FCDC332-6723-3352-CE66-C48E8AD3FA7D}"/>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1436570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E268B76-A304-683B-FA34-733AB8494A1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439D235-3070-2956-D551-E41552CB4D37}"/>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D622DB9-B06E-8519-6254-4C2357F21F23}"/>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943DFD84-0A3B-FFC8-D900-56A7DE6746BE}"/>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6" name="Alt Bilgi Yer Tutucusu 5">
            <a:extLst>
              <a:ext uri="{FF2B5EF4-FFF2-40B4-BE49-F238E27FC236}">
                <a16:creationId xmlns:a16="http://schemas.microsoft.com/office/drawing/2014/main" id="{E71486E3-4EA9-217B-6097-3259CCD7753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F4C9A1B-4AAE-840B-74CE-E2E196FF9EBE}"/>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313490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47B458-C51C-EC64-EED3-E72DBC1625AD}"/>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CC01D4C-2CF7-E3C6-D4D8-0E57B32367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2C5EF42-C4C1-7BE9-23AA-0E1BE18C7F77}"/>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62463CCD-93F6-C3BB-978B-2AC51F4A0E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69F3EBD0-D9E2-4E99-7CFF-C81514D61934}"/>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CBE7505A-ACF2-8D61-9943-044728006FDB}"/>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8" name="Alt Bilgi Yer Tutucusu 7">
            <a:extLst>
              <a:ext uri="{FF2B5EF4-FFF2-40B4-BE49-F238E27FC236}">
                <a16:creationId xmlns:a16="http://schemas.microsoft.com/office/drawing/2014/main" id="{AE842AD5-D25D-23AE-886C-805C006F7146}"/>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2F16EC20-9408-6E4F-8551-3982C415B90D}"/>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363299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49A005-C9F2-6AF7-1D48-CB9EB20046D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A632B5E-5F4B-D2AF-BF2A-29D484ED08AD}"/>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4" name="Alt Bilgi Yer Tutucusu 3">
            <a:extLst>
              <a:ext uri="{FF2B5EF4-FFF2-40B4-BE49-F238E27FC236}">
                <a16:creationId xmlns:a16="http://schemas.microsoft.com/office/drawing/2014/main" id="{1FB15F0C-1673-A36E-0231-06C438B7F13B}"/>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7EE5B4DA-A858-DB14-E848-97C8A4792599}"/>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2700572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6D6243F7-9960-D225-BD0A-9A82EBC3C315}"/>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3" name="Alt Bilgi Yer Tutucusu 2">
            <a:extLst>
              <a:ext uri="{FF2B5EF4-FFF2-40B4-BE49-F238E27FC236}">
                <a16:creationId xmlns:a16="http://schemas.microsoft.com/office/drawing/2014/main" id="{F9AFF226-4EBD-23F3-7BC7-54BDAB4566D3}"/>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46AEF77D-AC9D-D74E-107A-9B883F6B02E7}"/>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2212500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637C1F-18CA-3FEE-7F7E-66C61233FFF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73BE87BD-0CF5-396A-9DAE-3254FCD225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BD17EBBB-16CF-505B-69DF-4D2E8EC5D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F5AEE101-D08A-7150-0131-6D27F8EF6D2F}"/>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6" name="Alt Bilgi Yer Tutucusu 5">
            <a:extLst>
              <a:ext uri="{FF2B5EF4-FFF2-40B4-BE49-F238E27FC236}">
                <a16:creationId xmlns:a16="http://schemas.microsoft.com/office/drawing/2014/main" id="{6FFDB553-5D74-2E57-B05C-2951084F49E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8C29AC3-0DAC-9BF6-7065-29615D36B92B}"/>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4061412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F6DAD93-7D8B-1DBD-A5DF-6F8775862686}"/>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61C61AA0-0DA3-52A5-B0DA-E238B0725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BF421B8D-349F-86B0-F1C3-967E38BAFE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68DDB33-D797-FBF8-5B59-35260E809FDD}"/>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6" name="Alt Bilgi Yer Tutucusu 5">
            <a:extLst>
              <a:ext uri="{FF2B5EF4-FFF2-40B4-BE49-F238E27FC236}">
                <a16:creationId xmlns:a16="http://schemas.microsoft.com/office/drawing/2014/main" id="{AE737EA8-59F8-73E4-9D2E-B0ABED0D87E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590736B-53CE-5EBD-C01E-E7C0A5F79919}"/>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1885449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97E262-C940-99D4-B97B-529464999520}"/>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5B383388-9276-17BE-0920-2DF2149576B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119D60E-C0D1-D420-D407-DA54BE823477}"/>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5311A609-50B7-F95F-C4D8-321790732EE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89896868-6170-3208-F0C4-376E664AE580}"/>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330254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6BA69406-ED10-7213-E70F-9F423A36E2E7}"/>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4B668724-746E-10B4-F6E0-D3DCC9CD50AB}"/>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0D9D23C-A8C5-74A9-BA93-8ED88BCC07E3}"/>
              </a:ext>
            </a:extLst>
          </p:cNvPr>
          <p:cNvSpPr>
            <a:spLocks noGrp="1"/>
          </p:cNvSpPr>
          <p:nvPr>
            <p:ph type="dt" sz="half" idx="10"/>
          </p:nvPr>
        </p:nvSpPr>
        <p:spPr/>
        <p:txBody>
          <a:body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6FB35157-0D01-0CCF-3175-6AD18C2B0F3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7295819-1251-A38F-5772-1A4088ACEA27}"/>
              </a:ext>
            </a:extLst>
          </p:cNvPr>
          <p:cNvSpPr>
            <a:spLocks noGrp="1"/>
          </p:cNvSpPr>
          <p:nvPr>
            <p:ph type="sldNum" sz="quarter" idx="12"/>
          </p:nvPr>
        </p:nvSpPr>
        <p:spPr/>
        <p:txBody>
          <a:bodyPr/>
          <a:lstStyle/>
          <a:p>
            <a:fld id="{1CE97B20-1155-4903-BC17-322802CCD511}" type="slidenum">
              <a:rPr lang="tr-TR" smtClean="0"/>
              <a:t>‹#›</a:t>
            </a:fld>
            <a:endParaRPr lang="tr-TR"/>
          </a:p>
        </p:txBody>
      </p:sp>
    </p:spTree>
    <p:extLst>
      <p:ext uri="{BB962C8B-B14F-4D97-AF65-F5344CB8AC3E}">
        <p14:creationId xmlns:p14="http://schemas.microsoft.com/office/powerpoint/2010/main" val="330028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2650B4C8-A239-CC5C-34AA-5F9050667E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12F17F46-E7F2-3276-EC0A-ECFE08B116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F03AF2E-6C68-B78C-19DD-C3459744B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52DE23-F2B5-44B7-AAC5-B959E06E9DC1}" type="datetimeFigureOut">
              <a:rPr lang="tr-TR" smtClean="0"/>
              <a:t>28.07.2025</a:t>
            </a:fld>
            <a:endParaRPr lang="tr-TR"/>
          </a:p>
        </p:txBody>
      </p:sp>
      <p:sp>
        <p:nvSpPr>
          <p:cNvPr id="5" name="Alt Bilgi Yer Tutucusu 4">
            <a:extLst>
              <a:ext uri="{FF2B5EF4-FFF2-40B4-BE49-F238E27FC236}">
                <a16:creationId xmlns:a16="http://schemas.microsoft.com/office/drawing/2014/main" id="{7509D628-C948-8886-5B06-F3F89A56D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97E39407-7599-B7EA-65F4-B0CEBA8E27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E97B20-1155-4903-BC17-322802CCD511}" type="slidenum">
              <a:rPr lang="tr-TR" smtClean="0"/>
              <a:t>‹#›</a:t>
            </a:fld>
            <a:endParaRPr lang="tr-TR"/>
          </a:p>
        </p:txBody>
      </p:sp>
    </p:spTree>
    <p:extLst>
      <p:ext uri="{BB962C8B-B14F-4D97-AF65-F5344CB8AC3E}">
        <p14:creationId xmlns:p14="http://schemas.microsoft.com/office/powerpoint/2010/main" val="542147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5A7028-B242-4FBF-1EA6-AB3E10CF219E}"/>
              </a:ext>
            </a:extLst>
          </p:cNvPr>
          <p:cNvSpPr>
            <a:spLocks noGrp="1"/>
          </p:cNvSpPr>
          <p:nvPr>
            <p:ph type="ctrTitle"/>
          </p:nvPr>
        </p:nvSpPr>
        <p:spPr/>
        <p:txBody>
          <a:bodyPr/>
          <a:lstStyle/>
          <a:p>
            <a:r>
              <a:rPr lang="tr-TR" dirty="0"/>
              <a:t>470 PROJE SUNUMU</a:t>
            </a:r>
          </a:p>
        </p:txBody>
      </p:sp>
      <p:sp>
        <p:nvSpPr>
          <p:cNvPr id="3" name="Alt Başlık 2">
            <a:extLst>
              <a:ext uri="{FF2B5EF4-FFF2-40B4-BE49-F238E27FC236}">
                <a16:creationId xmlns:a16="http://schemas.microsoft.com/office/drawing/2014/main" id="{7D8BBC39-6506-F56F-E733-96D32417E1AF}"/>
              </a:ext>
            </a:extLst>
          </p:cNvPr>
          <p:cNvSpPr>
            <a:spLocks noGrp="1"/>
          </p:cNvSpPr>
          <p:nvPr>
            <p:ph type="subTitle" idx="1"/>
          </p:nvPr>
        </p:nvSpPr>
        <p:spPr/>
        <p:txBody>
          <a:bodyPr/>
          <a:lstStyle/>
          <a:p>
            <a:r>
              <a:rPr lang="tr-TR" dirty="0"/>
              <a:t>EREN BUDAK</a:t>
            </a:r>
          </a:p>
          <a:p>
            <a:r>
              <a:rPr lang="tr-TR" dirty="0"/>
              <a:t>231401007</a:t>
            </a:r>
          </a:p>
        </p:txBody>
      </p:sp>
    </p:spTree>
    <p:extLst>
      <p:ext uri="{BB962C8B-B14F-4D97-AF65-F5344CB8AC3E}">
        <p14:creationId xmlns:p14="http://schemas.microsoft.com/office/powerpoint/2010/main" val="2840447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0BDCB8-579D-A1DF-C021-645512FEC165}"/>
              </a:ext>
            </a:extLst>
          </p:cNvPr>
          <p:cNvSpPr>
            <a:spLocks noGrp="1"/>
          </p:cNvSpPr>
          <p:nvPr>
            <p:ph type="title"/>
          </p:nvPr>
        </p:nvSpPr>
        <p:spPr/>
        <p:txBody>
          <a:bodyPr/>
          <a:lstStyle/>
          <a:p>
            <a:endParaRPr lang="tr-TR" dirty="0"/>
          </a:p>
        </p:txBody>
      </p:sp>
      <p:sp>
        <p:nvSpPr>
          <p:cNvPr id="3" name="İçerik Yer Tutucusu 2">
            <a:extLst>
              <a:ext uri="{FF2B5EF4-FFF2-40B4-BE49-F238E27FC236}">
                <a16:creationId xmlns:a16="http://schemas.microsoft.com/office/drawing/2014/main" id="{456226D8-E05E-66BD-838A-EE42D169D078}"/>
              </a:ext>
            </a:extLst>
          </p:cNvPr>
          <p:cNvSpPr>
            <a:spLocks noGrp="1"/>
          </p:cNvSpPr>
          <p:nvPr>
            <p:ph idx="1"/>
          </p:nvPr>
        </p:nvSpPr>
        <p:spPr/>
        <p:txBody>
          <a:bodyPr>
            <a:normAutofit lnSpcReduction="10000"/>
          </a:bodyPr>
          <a:lstStyle/>
          <a:p>
            <a:r>
              <a:rPr lang="tr-TR" dirty="0"/>
              <a:t>Proje Amacı: Eski deprem verilerinden yola çıkarak gelecek zaman dilimleri için depremlerin büyüklük derinlik ve konumlarını </a:t>
            </a:r>
            <a:r>
              <a:rPr lang="tr-TR" dirty="0" err="1"/>
              <a:t>ölçmek.Bunun</a:t>
            </a:r>
            <a:r>
              <a:rPr lang="tr-TR" dirty="0"/>
              <a:t> için Makine öğrenme ve Derin öğrenme modellerini kullanmak.</a:t>
            </a:r>
          </a:p>
          <a:p>
            <a:r>
              <a:rPr lang="tr-TR" dirty="0"/>
              <a:t>Peki bu amaç için ne yaptık?</a:t>
            </a:r>
          </a:p>
          <a:p>
            <a:r>
              <a:rPr lang="tr-TR" dirty="0"/>
              <a:t>Verileri </a:t>
            </a:r>
            <a:r>
              <a:rPr lang="tr-TR" dirty="0" err="1"/>
              <a:t>timesteplere</a:t>
            </a:r>
            <a:r>
              <a:rPr lang="tr-TR" dirty="0"/>
              <a:t> göre </a:t>
            </a:r>
            <a:r>
              <a:rPr lang="tr-TR" dirty="0" err="1"/>
              <a:t>resample</a:t>
            </a:r>
            <a:r>
              <a:rPr lang="tr-TR" dirty="0"/>
              <a:t> ettik(</a:t>
            </a:r>
            <a:r>
              <a:rPr lang="tr-TR" dirty="0" err="1"/>
              <a:t>yıl,hafta,gün</a:t>
            </a:r>
            <a:r>
              <a:rPr lang="tr-TR" dirty="0"/>
              <a:t> vs.).Bu verileri modellere göre </a:t>
            </a:r>
            <a:r>
              <a:rPr lang="tr-TR" dirty="0" err="1"/>
              <a:t>preprocess,öznitelik</a:t>
            </a:r>
            <a:r>
              <a:rPr lang="tr-TR" dirty="0"/>
              <a:t> mühendisliği gibi işlemlerden geçirip her </a:t>
            </a:r>
            <a:r>
              <a:rPr lang="tr-TR" dirty="0" err="1"/>
              <a:t>timestep</a:t>
            </a:r>
            <a:r>
              <a:rPr lang="tr-TR" dirty="0"/>
              <a:t> için bir sonraki </a:t>
            </a:r>
            <a:r>
              <a:rPr lang="tr-TR" dirty="0" err="1"/>
              <a:t>timestep</a:t>
            </a:r>
            <a:r>
              <a:rPr lang="tr-TR" dirty="0"/>
              <a:t> hakkında tahmin </a:t>
            </a:r>
            <a:r>
              <a:rPr lang="tr-TR" dirty="0" err="1"/>
              <a:t>yaptık.Feedbackler</a:t>
            </a:r>
            <a:r>
              <a:rPr lang="tr-TR" dirty="0"/>
              <a:t> doğrultusunda </a:t>
            </a:r>
            <a:r>
              <a:rPr lang="tr-TR" dirty="0" err="1"/>
              <a:t>threshold</a:t>
            </a:r>
            <a:r>
              <a:rPr lang="tr-TR" dirty="0"/>
              <a:t> a göre deprem tahmini gücüne ve konuma göre deprem tahmini yapmaya çalıştık.</a:t>
            </a:r>
          </a:p>
        </p:txBody>
      </p:sp>
    </p:spTree>
    <p:extLst>
      <p:ext uri="{BB962C8B-B14F-4D97-AF65-F5344CB8AC3E}">
        <p14:creationId xmlns:p14="http://schemas.microsoft.com/office/powerpoint/2010/main" val="3043085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2ABC2EAA-2B74-C927-5C33-D01B040EAB86}"/>
              </a:ext>
            </a:extLst>
          </p:cNvPr>
          <p:cNvSpPr>
            <a:spLocks noGrp="1"/>
          </p:cNvSpPr>
          <p:nvPr>
            <p:ph type="title"/>
          </p:nvPr>
        </p:nvSpPr>
        <p:spPr>
          <a:xfrm>
            <a:off x="838200" y="365126"/>
            <a:ext cx="10515600" cy="566208"/>
          </a:xfrm>
        </p:spPr>
        <p:txBody>
          <a:bodyPr>
            <a:normAutofit fontScale="90000"/>
          </a:bodyPr>
          <a:lstStyle/>
          <a:p>
            <a:r>
              <a:rPr lang="tr-TR" dirty="0" err="1"/>
              <a:t>Verisetleri</a:t>
            </a:r>
            <a:r>
              <a:rPr lang="tr-TR" dirty="0"/>
              <a:t> ve ham veri örnekleri</a:t>
            </a:r>
          </a:p>
        </p:txBody>
      </p:sp>
      <p:sp>
        <p:nvSpPr>
          <p:cNvPr id="5" name="İçerik Yer Tutucusu 4">
            <a:extLst>
              <a:ext uri="{FF2B5EF4-FFF2-40B4-BE49-F238E27FC236}">
                <a16:creationId xmlns:a16="http://schemas.microsoft.com/office/drawing/2014/main" id="{D7479094-2200-154F-0FA6-6057B07F3358}"/>
              </a:ext>
            </a:extLst>
          </p:cNvPr>
          <p:cNvSpPr>
            <a:spLocks noGrp="1"/>
          </p:cNvSpPr>
          <p:nvPr>
            <p:ph sz="half" idx="1"/>
          </p:nvPr>
        </p:nvSpPr>
        <p:spPr>
          <a:xfrm>
            <a:off x="838200" y="1219200"/>
            <a:ext cx="5181600" cy="4957763"/>
          </a:xfrm>
        </p:spPr>
        <p:txBody>
          <a:bodyPr/>
          <a:lstStyle/>
          <a:p>
            <a:r>
              <a:rPr lang="tr-TR" dirty="0" err="1"/>
              <a:t>Usgs_data</a:t>
            </a:r>
            <a:r>
              <a:rPr lang="tr-TR" dirty="0"/>
              <a:t>(1 yıllık)</a:t>
            </a:r>
          </a:p>
          <a:p>
            <a:endParaRPr lang="tr-TR" dirty="0"/>
          </a:p>
        </p:txBody>
      </p:sp>
      <p:pic>
        <p:nvPicPr>
          <p:cNvPr id="8" name="İçerik Yer Tutucusu 7" descr="metin, ekran görüntüsü, yazı tipi, sayı, numara içeren bir resim&#10;&#10;Yapay zeka tarafından oluşturulmuş içerik yanlış olabilir.">
            <a:extLst>
              <a:ext uri="{FF2B5EF4-FFF2-40B4-BE49-F238E27FC236}">
                <a16:creationId xmlns:a16="http://schemas.microsoft.com/office/drawing/2014/main" id="{17172CAB-318F-A9C4-7A5A-0AD4A6EF0DB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49960" y="1718733"/>
            <a:ext cx="10734040" cy="4746096"/>
          </a:xfrm>
        </p:spPr>
      </p:pic>
    </p:spTree>
    <p:extLst>
      <p:ext uri="{BB962C8B-B14F-4D97-AF65-F5344CB8AC3E}">
        <p14:creationId xmlns:p14="http://schemas.microsoft.com/office/powerpoint/2010/main" val="2230644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ABE0C2-3FDF-BF75-ED2B-2D1EF29B0BC4}"/>
              </a:ext>
            </a:extLst>
          </p:cNvPr>
          <p:cNvSpPr>
            <a:spLocks noGrp="1"/>
          </p:cNvSpPr>
          <p:nvPr>
            <p:ph type="title"/>
          </p:nvPr>
        </p:nvSpPr>
        <p:spPr/>
        <p:txBody>
          <a:bodyPr>
            <a:normAutofit fontScale="90000"/>
          </a:bodyPr>
          <a:lstStyle/>
          <a:p>
            <a:r>
              <a:rPr lang="tr-TR" dirty="0" err="1"/>
              <a:t>Verisetleri</a:t>
            </a:r>
            <a:r>
              <a:rPr lang="tr-TR" dirty="0"/>
              <a:t> ve Ham Veri Örnekleri-2</a:t>
            </a:r>
            <a:br>
              <a:rPr lang="tr-TR" dirty="0"/>
            </a:br>
            <a:r>
              <a:rPr lang="tr-TR" dirty="0"/>
              <a:t>signif.earthquake.csv(1900-2023 arası depremler</a:t>
            </a:r>
          </a:p>
        </p:txBody>
      </p:sp>
      <p:pic>
        <p:nvPicPr>
          <p:cNvPr id="6" name="İçerik Yer Tutucusu 5" descr="metin, ekran görüntüsü, kağıt, yazı tipi içeren bir resim&#10;&#10;Yapay zeka tarafından oluşturulmuş içerik yanlış olabilir.">
            <a:extLst>
              <a:ext uri="{FF2B5EF4-FFF2-40B4-BE49-F238E27FC236}">
                <a16:creationId xmlns:a16="http://schemas.microsoft.com/office/drawing/2014/main" id="{DD2361F1-CFC9-22B0-3DD1-013A0A913B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0502" y="1825625"/>
            <a:ext cx="9350995" cy="4351338"/>
          </a:xfrm>
        </p:spPr>
      </p:pic>
    </p:spTree>
    <p:extLst>
      <p:ext uri="{BB962C8B-B14F-4D97-AF65-F5344CB8AC3E}">
        <p14:creationId xmlns:p14="http://schemas.microsoft.com/office/powerpoint/2010/main" val="1826839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A62CBF-C491-FE4C-F15B-EA10FB0E6308}"/>
              </a:ext>
            </a:extLst>
          </p:cNvPr>
          <p:cNvSpPr>
            <a:spLocks noGrp="1"/>
          </p:cNvSpPr>
          <p:nvPr>
            <p:ph type="title"/>
          </p:nvPr>
        </p:nvSpPr>
        <p:spPr>
          <a:xfrm>
            <a:off x="838200" y="365125"/>
            <a:ext cx="10515600" cy="740661"/>
          </a:xfrm>
        </p:spPr>
        <p:txBody>
          <a:bodyPr>
            <a:normAutofit fontScale="90000"/>
          </a:bodyPr>
          <a:lstStyle/>
          <a:p>
            <a:r>
              <a:rPr lang="tr-TR" dirty="0"/>
              <a:t>Bu veriler hangi aşamalardan </a:t>
            </a:r>
            <a:r>
              <a:rPr lang="tr-TR" dirty="0" err="1"/>
              <a:t>geçti?Yöntemlerimiz</a:t>
            </a:r>
            <a:endParaRPr lang="tr-TR" dirty="0"/>
          </a:p>
        </p:txBody>
      </p:sp>
      <p:sp>
        <p:nvSpPr>
          <p:cNvPr id="3" name="İçerik Yer Tutucusu 2">
            <a:extLst>
              <a:ext uri="{FF2B5EF4-FFF2-40B4-BE49-F238E27FC236}">
                <a16:creationId xmlns:a16="http://schemas.microsoft.com/office/drawing/2014/main" id="{6E1AA803-C174-0681-9095-28523B039CE7}"/>
              </a:ext>
            </a:extLst>
          </p:cNvPr>
          <p:cNvSpPr>
            <a:spLocks noGrp="1"/>
          </p:cNvSpPr>
          <p:nvPr>
            <p:ph idx="1"/>
          </p:nvPr>
        </p:nvSpPr>
        <p:spPr>
          <a:xfrm>
            <a:off x="838200" y="1392865"/>
            <a:ext cx="10515600" cy="4784098"/>
          </a:xfrm>
        </p:spPr>
        <p:txBody>
          <a:bodyPr>
            <a:normAutofit/>
          </a:bodyPr>
          <a:lstStyle/>
          <a:p>
            <a:r>
              <a:rPr lang="tr-TR" sz="2000" dirty="0"/>
              <a:t>YÖNTEM 1</a:t>
            </a:r>
            <a:r>
              <a:rPr lang="tr-TR" sz="1600" dirty="0"/>
              <a:t>:   </a:t>
            </a:r>
            <a:r>
              <a:rPr lang="tr-TR" sz="2000" dirty="0"/>
              <a:t>ML MODELLERİ OLAN RANDOM FOREST,XGBOOST VE MLP(</a:t>
            </a:r>
            <a:r>
              <a:rPr lang="tr-TR" sz="2000" dirty="0" err="1"/>
              <a:t>Multilayer</a:t>
            </a:r>
            <a:r>
              <a:rPr lang="tr-TR" sz="2000" dirty="0"/>
              <a:t> </a:t>
            </a:r>
            <a:r>
              <a:rPr lang="tr-TR" sz="2000" dirty="0" err="1"/>
              <a:t>Perceptron</a:t>
            </a:r>
            <a:r>
              <a:rPr lang="tr-TR" sz="2000" dirty="0"/>
              <a:t> ) İLE TAHMİN YAPTIK.</a:t>
            </a:r>
          </a:p>
          <a:p>
            <a:r>
              <a:rPr lang="tr-TR" sz="2000" dirty="0"/>
              <a:t>YÖNTEM2:BİR RNN MODELİ OLAN LSTM İLE TAHMİN YAPTIK.ATTENTİON MEKANİZMASIYLA DESTEKLEYİP NORMAL LSTM İLE TAHMİN GÜÇLERİNİ KARŞILAŞTIRDIK.</a:t>
            </a:r>
          </a:p>
          <a:p>
            <a:r>
              <a:rPr lang="tr-TR" sz="2000" dirty="0"/>
              <a:t>VERİLER HANGİ İŞLEMLERE UĞRADI:ÖNCE KRONOLOJİK OLARAK SIRALANDILAR,ARDINDAN KULLANMADIĞIMIZ ÖZNİTELİKLERİ ATIP RESAMPLE ETTİK(RESAMPLE ŞEKLİMİZ MODELE GÖRE DEĞİŞİYOR,AYLIK,YILLIK GİBİ).ARDINDAN TİMESTEPLERİ OLUŞTURMAK İÇİN HER VERİNİN TİMESTEPDEKİ ORTALAMA DEĞERLERİNİ BULDUK.SONUÇ OLARAK HER TİMESTEPDE ORTALAMA BÜYÜKLÜK,DERİNLİK VE KONUM BİLGİLERİMİZ OLDU.</a:t>
            </a:r>
          </a:p>
          <a:p>
            <a:r>
              <a:rPr lang="tr-TR" sz="1600" dirty="0"/>
              <a:t>TÜM ML MODELLERİ İÇİN SHİFT İLE GEÇMİŞ TİME STEPLERİN AYNI ŞEKİLDE ORTALAMA DEĞERLERİNİ HER BİR TİMESTEPE EKLEDİK.SHİFT(-1) İLE SONRAKİ TİMESTEP İÇİN BU DEĞERLERE YER VERDİK.</a:t>
            </a:r>
          </a:p>
          <a:p>
            <a:r>
              <a:rPr lang="tr-TR" sz="1600" dirty="0"/>
              <a:t>YANİ GİRDİ OLARAK:HER TİMESTEPDE O TİMTEPİN VE GEÇMİŞ N(</a:t>
            </a:r>
            <a:r>
              <a:rPr lang="tr-TR" sz="1600" dirty="0" err="1"/>
              <a:t>hiperparametre</a:t>
            </a:r>
            <a:r>
              <a:rPr lang="tr-TR" sz="1600" dirty="0"/>
              <a:t>) </a:t>
            </a:r>
            <a:r>
              <a:rPr lang="tr-TR" sz="1800" dirty="0"/>
              <a:t>TİMESTEPİN ORTALAMA KONUM,BÜYÜKLÜK VE DERİNLİK DEĞERLERİ,AYRICA BİR SONRAKİ TİMESTEPİN DEĞERLERİ </a:t>
            </a:r>
            <a:endParaRPr lang="tr-TR" sz="1600" dirty="0"/>
          </a:p>
        </p:txBody>
      </p:sp>
    </p:spTree>
    <p:extLst>
      <p:ext uri="{BB962C8B-B14F-4D97-AF65-F5344CB8AC3E}">
        <p14:creationId xmlns:p14="http://schemas.microsoft.com/office/powerpoint/2010/main" val="1050718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1BE896-D361-93E5-6EB6-8B0652EB9524}"/>
              </a:ext>
            </a:extLst>
          </p:cNvPr>
          <p:cNvSpPr>
            <a:spLocks noGrp="1"/>
          </p:cNvSpPr>
          <p:nvPr>
            <p:ph type="title"/>
          </p:nvPr>
        </p:nvSpPr>
        <p:spPr>
          <a:xfrm>
            <a:off x="838200" y="365125"/>
            <a:ext cx="10515600" cy="857619"/>
          </a:xfrm>
        </p:spPr>
        <p:txBody>
          <a:bodyPr/>
          <a:lstStyle/>
          <a:p>
            <a:r>
              <a:rPr lang="tr-TR" dirty="0"/>
              <a:t>PREPROCESSDE ÖNEMLİ FARKLILIKLAR</a:t>
            </a:r>
          </a:p>
        </p:txBody>
      </p:sp>
      <p:sp>
        <p:nvSpPr>
          <p:cNvPr id="3" name="İçerik Yer Tutucusu 2">
            <a:extLst>
              <a:ext uri="{FF2B5EF4-FFF2-40B4-BE49-F238E27FC236}">
                <a16:creationId xmlns:a16="http://schemas.microsoft.com/office/drawing/2014/main" id="{A8C8AEF9-F7E0-FC38-499F-744E2C9B582B}"/>
              </a:ext>
            </a:extLst>
          </p:cNvPr>
          <p:cNvSpPr>
            <a:spLocks noGrp="1"/>
          </p:cNvSpPr>
          <p:nvPr>
            <p:ph idx="1"/>
          </p:nvPr>
        </p:nvSpPr>
        <p:spPr>
          <a:xfrm>
            <a:off x="838200" y="1297172"/>
            <a:ext cx="10515600" cy="4879791"/>
          </a:xfrm>
        </p:spPr>
        <p:txBody>
          <a:bodyPr/>
          <a:lstStyle/>
          <a:p>
            <a:r>
              <a:rPr lang="tr-TR" dirty="0" err="1"/>
              <a:t>RF:Önceki</a:t>
            </a:r>
            <a:r>
              <a:rPr lang="tr-TR" dirty="0"/>
              <a:t> slayttakinden farklı bir işlem gerektirmedi.</a:t>
            </a:r>
          </a:p>
          <a:p>
            <a:r>
              <a:rPr lang="tr-TR" dirty="0" err="1"/>
              <a:t>XGBOOST:Kategorik</a:t>
            </a:r>
            <a:r>
              <a:rPr lang="tr-TR" dirty="0"/>
              <a:t> verilerden bazılarını da </a:t>
            </a:r>
            <a:r>
              <a:rPr lang="tr-TR" dirty="0" err="1"/>
              <a:t>one</a:t>
            </a:r>
            <a:r>
              <a:rPr lang="tr-TR" dirty="0"/>
              <a:t> hot </a:t>
            </a:r>
            <a:r>
              <a:rPr lang="tr-TR" dirty="0" err="1"/>
              <a:t>encoding</a:t>
            </a:r>
            <a:r>
              <a:rPr lang="tr-TR" dirty="0"/>
              <a:t> ile sayısallaştırıp </a:t>
            </a:r>
            <a:r>
              <a:rPr lang="tr-TR" dirty="0" err="1"/>
              <a:t>timestep</a:t>
            </a:r>
            <a:r>
              <a:rPr lang="tr-TR" dirty="0"/>
              <a:t> e ekleme.</a:t>
            </a:r>
          </a:p>
          <a:p>
            <a:r>
              <a:rPr lang="tr-TR" dirty="0"/>
              <a:t>MLP:XGBOOST a ek olarak </a:t>
            </a:r>
            <a:r>
              <a:rPr lang="tr-TR" dirty="0" err="1"/>
              <a:t>MinMaxScale</a:t>
            </a:r>
            <a:r>
              <a:rPr lang="tr-TR" dirty="0"/>
              <a:t> ile değerleri </a:t>
            </a:r>
            <a:r>
              <a:rPr lang="tr-TR" dirty="0" err="1"/>
              <a:t>ölçekledik,en</a:t>
            </a:r>
            <a:r>
              <a:rPr lang="tr-TR" dirty="0"/>
              <a:t> sonda ters dönüşüm ile veriler orijinal ölçeklerine geri </a:t>
            </a:r>
            <a:r>
              <a:rPr lang="tr-TR" dirty="0" err="1"/>
              <a:t>dönerler.Ayrıca</a:t>
            </a:r>
            <a:r>
              <a:rPr lang="tr-TR" dirty="0"/>
              <a:t> iyileştirme denememde </a:t>
            </a:r>
            <a:r>
              <a:rPr lang="tr-TR" dirty="0" err="1"/>
              <a:t>outlier</a:t>
            </a:r>
            <a:r>
              <a:rPr lang="tr-TR" dirty="0"/>
              <a:t> </a:t>
            </a:r>
            <a:r>
              <a:rPr lang="tr-TR" dirty="0" err="1"/>
              <a:t>elimination</a:t>
            </a:r>
            <a:r>
              <a:rPr lang="tr-TR" dirty="0"/>
              <a:t> ve </a:t>
            </a:r>
            <a:r>
              <a:rPr lang="tr-TR" dirty="0" err="1"/>
              <a:t>RobustScaler</a:t>
            </a:r>
            <a:r>
              <a:rPr lang="tr-TR" dirty="0"/>
              <a:t> kullandım.</a:t>
            </a:r>
          </a:p>
          <a:p>
            <a:r>
              <a:rPr lang="tr-TR" dirty="0" err="1"/>
              <a:t>LSTM:Shift</a:t>
            </a:r>
            <a:r>
              <a:rPr lang="tr-TR" dirty="0"/>
              <a:t> </a:t>
            </a:r>
            <a:r>
              <a:rPr lang="tr-TR" dirty="0" err="1"/>
              <a:t>kullanmıyoruz,N</a:t>
            </a:r>
            <a:r>
              <a:rPr lang="tr-TR" dirty="0"/>
              <a:t>(son n </a:t>
            </a:r>
            <a:r>
              <a:rPr lang="tr-TR" dirty="0" err="1"/>
              <a:t>timestep,sequence</a:t>
            </a:r>
            <a:r>
              <a:rPr lang="tr-TR" dirty="0"/>
              <a:t> </a:t>
            </a:r>
            <a:r>
              <a:rPr lang="tr-TR" dirty="0" err="1"/>
              <a:t>length</a:t>
            </a:r>
            <a:r>
              <a:rPr lang="tr-TR" dirty="0"/>
              <a:t>)x4 lük </a:t>
            </a:r>
            <a:r>
              <a:rPr lang="tr-TR" dirty="0" err="1"/>
              <a:t>sliding</a:t>
            </a:r>
            <a:r>
              <a:rPr lang="tr-TR" dirty="0"/>
              <a:t> </a:t>
            </a:r>
            <a:r>
              <a:rPr lang="tr-TR" dirty="0" err="1"/>
              <a:t>windowlar</a:t>
            </a:r>
            <a:r>
              <a:rPr lang="tr-TR" dirty="0"/>
              <a:t> ile tahmin yapıyoruz.</a:t>
            </a:r>
          </a:p>
          <a:p>
            <a:endParaRPr lang="tr-TR" dirty="0"/>
          </a:p>
        </p:txBody>
      </p:sp>
    </p:spTree>
    <p:extLst>
      <p:ext uri="{BB962C8B-B14F-4D97-AF65-F5344CB8AC3E}">
        <p14:creationId xmlns:p14="http://schemas.microsoft.com/office/powerpoint/2010/main" val="3517221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492DFB6-7D91-BE3C-81D3-9BA0B271658B}"/>
              </a:ext>
            </a:extLst>
          </p:cNvPr>
          <p:cNvSpPr>
            <a:spLocks noGrp="1"/>
          </p:cNvSpPr>
          <p:nvPr>
            <p:ph type="title"/>
          </p:nvPr>
        </p:nvSpPr>
        <p:spPr>
          <a:xfrm>
            <a:off x="838200" y="365126"/>
            <a:ext cx="10515600" cy="868251"/>
          </a:xfrm>
        </p:spPr>
        <p:txBody>
          <a:bodyPr>
            <a:normAutofit fontScale="90000"/>
          </a:bodyPr>
          <a:lstStyle/>
          <a:p>
            <a:r>
              <a:rPr lang="tr-TR" dirty="0"/>
              <a:t>HİPERPARAMETRE OPTİMİZASYONU VE METRİKLER</a:t>
            </a:r>
          </a:p>
        </p:txBody>
      </p:sp>
      <p:sp>
        <p:nvSpPr>
          <p:cNvPr id="3" name="İçerik Yer Tutucusu 2">
            <a:extLst>
              <a:ext uri="{FF2B5EF4-FFF2-40B4-BE49-F238E27FC236}">
                <a16:creationId xmlns:a16="http://schemas.microsoft.com/office/drawing/2014/main" id="{9938BBD1-68FE-8693-5D17-F0E28C2F1203}"/>
              </a:ext>
            </a:extLst>
          </p:cNvPr>
          <p:cNvSpPr>
            <a:spLocks noGrp="1"/>
          </p:cNvSpPr>
          <p:nvPr>
            <p:ph idx="1"/>
          </p:nvPr>
        </p:nvSpPr>
        <p:spPr>
          <a:xfrm>
            <a:off x="838200" y="1573619"/>
            <a:ext cx="10515600" cy="4603344"/>
          </a:xfrm>
        </p:spPr>
        <p:txBody>
          <a:bodyPr>
            <a:normAutofit fontScale="92500" lnSpcReduction="10000"/>
          </a:bodyPr>
          <a:lstStyle/>
          <a:p>
            <a:r>
              <a:rPr lang="tr-TR" dirty="0"/>
              <a:t>ML </a:t>
            </a:r>
            <a:r>
              <a:rPr lang="tr-TR" dirty="0" err="1"/>
              <a:t>MODELLERİNDE:GridSearch</a:t>
            </a:r>
            <a:r>
              <a:rPr lang="tr-TR" dirty="0"/>
              <a:t> ile bütün </a:t>
            </a:r>
            <a:r>
              <a:rPr lang="tr-TR" dirty="0" err="1"/>
              <a:t>hiperparametre</a:t>
            </a:r>
            <a:r>
              <a:rPr lang="tr-TR" dirty="0"/>
              <a:t> kombinasyonlarını denedik.</a:t>
            </a:r>
          </a:p>
          <a:p>
            <a:r>
              <a:rPr lang="tr-TR" dirty="0"/>
              <a:t>LSTM MODELLERİNDE: </a:t>
            </a:r>
            <a:r>
              <a:rPr lang="tr-TR" dirty="0" err="1"/>
              <a:t>Bayesian</a:t>
            </a:r>
            <a:r>
              <a:rPr lang="tr-TR" dirty="0"/>
              <a:t> </a:t>
            </a:r>
            <a:r>
              <a:rPr lang="tr-TR" dirty="0" err="1"/>
              <a:t>Search</a:t>
            </a:r>
            <a:r>
              <a:rPr lang="tr-TR" dirty="0"/>
              <a:t> ile kombinasyonları tahmin ederek ilerleyen bir </a:t>
            </a:r>
            <a:r>
              <a:rPr lang="tr-TR" dirty="0" err="1"/>
              <a:t>optimizasyon,az</a:t>
            </a:r>
            <a:r>
              <a:rPr lang="tr-TR" dirty="0"/>
              <a:t> kombinasyon deneyip başarılı sonuç almamızı sağlıyor.</a:t>
            </a:r>
          </a:p>
          <a:p>
            <a:r>
              <a:rPr lang="tr-TR" dirty="0" err="1"/>
              <a:t>METRİKLER:Klasik</a:t>
            </a:r>
            <a:r>
              <a:rPr lang="tr-TR" dirty="0"/>
              <a:t> olarak yaptığımız tahminlerin MSE,MAE R^(2) değerleri.</a:t>
            </a:r>
          </a:p>
          <a:p>
            <a:pPr marL="0" indent="0">
              <a:buNone/>
            </a:pPr>
            <a:r>
              <a:rPr lang="tr-TR" dirty="0"/>
              <a:t>-Feedback doğrultusunda tahminlerin belli </a:t>
            </a:r>
            <a:r>
              <a:rPr lang="tr-TR" dirty="0" err="1"/>
              <a:t>thresholdlara</a:t>
            </a:r>
            <a:r>
              <a:rPr lang="tr-TR" dirty="0"/>
              <a:t> göre depremin varlığı konusunda doğruluğu.</a:t>
            </a:r>
          </a:p>
          <a:p>
            <a:pPr marL="0" indent="0">
              <a:buNone/>
            </a:pPr>
            <a:r>
              <a:rPr lang="tr-TR" dirty="0"/>
              <a:t>-Ve Belli konum aralıklarında bulduğumuz veriler için tahmin ve yine </a:t>
            </a:r>
            <a:r>
              <a:rPr lang="tr-TR" dirty="0" err="1"/>
              <a:t>threshold</a:t>
            </a:r>
            <a:r>
              <a:rPr lang="tr-TR" dirty="0"/>
              <a:t> a göre doğru tahmin mi bakış.</a:t>
            </a:r>
          </a:p>
          <a:p>
            <a:pPr marL="0" indent="0">
              <a:buNone/>
            </a:pPr>
            <a:r>
              <a:rPr lang="tr-TR" dirty="0"/>
              <a:t>NOT: Girdilerde Train Test ayrımı için genel olarak 80/20 oranı kullanıldı.</a:t>
            </a:r>
          </a:p>
          <a:p>
            <a:pPr marL="0" indent="0">
              <a:buNone/>
            </a:pPr>
            <a:endParaRPr lang="tr-TR" dirty="0"/>
          </a:p>
        </p:txBody>
      </p:sp>
    </p:spTree>
    <p:extLst>
      <p:ext uri="{BB962C8B-B14F-4D97-AF65-F5344CB8AC3E}">
        <p14:creationId xmlns:p14="http://schemas.microsoft.com/office/powerpoint/2010/main" val="2123404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4E9E395-1EA3-84FA-615C-7E76A3327916}"/>
              </a:ext>
            </a:extLst>
          </p:cNvPr>
          <p:cNvSpPr>
            <a:spLocks noGrp="1"/>
          </p:cNvSpPr>
          <p:nvPr>
            <p:ph type="title"/>
          </p:nvPr>
        </p:nvSpPr>
        <p:spPr>
          <a:xfrm>
            <a:off x="838200" y="365126"/>
            <a:ext cx="10515600" cy="687498"/>
          </a:xfrm>
        </p:spPr>
        <p:txBody>
          <a:bodyPr>
            <a:normAutofit fontScale="90000"/>
          </a:bodyPr>
          <a:lstStyle/>
          <a:p>
            <a:r>
              <a:rPr lang="tr-TR" sz="2400" dirty="0"/>
              <a:t>RF-XGBOOST VE MLP(gelişmiş hali ile beraber) OPTİMAL HİPERPARAMETRE DEĞERLERİ(SOLDAN SAĞA)</a:t>
            </a:r>
          </a:p>
        </p:txBody>
      </p:sp>
      <p:pic>
        <p:nvPicPr>
          <p:cNvPr id="5" name="İçerik Yer Tutucusu 4">
            <a:extLst>
              <a:ext uri="{FF2B5EF4-FFF2-40B4-BE49-F238E27FC236}">
                <a16:creationId xmlns:a16="http://schemas.microsoft.com/office/drawing/2014/main" id="{A46571E9-19AD-F972-275D-207B9A830E17}"/>
              </a:ext>
            </a:extLst>
          </p:cNvPr>
          <p:cNvPicPr>
            <a:picLocks noGrp="1" noChangeAspect="1"/>
          </p:cNvPicPr>
          <p:nvPr>
            <p:ph idx="1"/>
          </p:nvPr>
        </p:nvPicPr>
        <p:blipFill>
          <a:blip r:embed="rId2"/>
          <a:stretch>
            <a:fillRect/>
          </a:stretch>
        </p:blipFill>
        <p:spPr>
          <a:xfrm>
            <a:off x="838200" y="1314266"/>
            <a:ext cx="2217612" cy="4229467"/>
          </a:xfrm>
        </p:spPr>
      </p:pic>
      <p:pic>
        <p:nvPicPr>
          <p:cNvPr id="7" name="Resim 6">
            <a:extLst>
              <a:ext uri="{FF2B5EF4-FFF2-40B4-BE49-F238E27FC236}">
                <a16:creationId xmlns:a16="http://schemas.microsoft.com/office/drawing/2014/main" id="{1624742F-F045-FA28-704B-732D8E50A4D0}"/>
              </a:ext>
            </a:extLst>
          </p:cNvPr>
          <p:cNvPicPr>
            <a:picLocks noChangeAspect="1"/>
          </p:cNvPicPr>
          <p:nvPr/>
        </p:nvPicPr>
        <p:blipFill>
          <a:blip r:embed="rId3"/>
          <a:stretch>
            <a:fillRect/>
          </a:stretch>
        </p:blipFill>
        <p:spPr>
          <a:xfrm>
            <a:off x="4180898" y="1177095"/>
            <a:ext cx="2065199" cy="4366638"/>
          </a:xfrm>
          <a:prstGeom prst="rect">
            <a:avLst/>
          </a:prstGeom>
        </p:spPr>
      </p:pic>
      <p:pic>
        <p:nvPicPr>
          <p:cNvPr id="9" name="Resim 8">
            <a:extLst>
              <a:ext uri="{FF2B5EF4-FFF2-40B4-BE49-F238E27FC236}">
                <a16:creationId xmlns:a16="http://schemas.microsoft.com/office/drawing/2014/main" id="{12C5E843-24E8-6F34-032A-1C045F716EF9}"/>
              </a:ext>
            </a:extLst>
          </p:cNvPr>
          <p:cNvPicPr>
            <a:picLocks noChangeAspect="1"/>
          </p:cNvPicPr>
          <p:nvPr/>
        </p:nvPicPr>
        <p:blipFill>
          <a:blip r:embed="rId4"/>
          <a:stretch>
            <a:fillRect/>
          </a:stretch>
        </p:blipFill>
        <p:spPr>
          <a:xfrm>
            <a:off x="6751035" y="1314266"/>
            <a:ext cx="2453853" cy="4054191"/>
          </a:xfrm>
          <a:prstGeom prst="rect">
            <a:avLst/>
          </a:prstGeom>
        </p:spPr>
      </p:pic>
      <p:pic>
        <p:nvPicPr>
          <p:cNvPr id="11" name="Resim 10">
            <a:extLst>
              <a:ext uri="{FF2B5EF4-FFF2-40B4-BE49-F238E27FC236}">
                <a16:creationId xmlns:a16="http://schemas.microsoft.com/office/drawing/2014/main" id="{7D935DFE-775B-3DC5-F352-33A94C63ECEA}"/>
              </a:ext>
            </a:extLst>
          </p:cNvPr>
          <p:cNvPicPr>
            <a:picLocks noChangeAspect="1"/>
          </p:cNvPicPr>
          <p:nvPr/>
        </p:nvPicPr>
        <p:blipFill>
          <a:blip r:embed="rId5"/>
          <a:stretch>
            <a:fillRect/>
          </a:stretch>
        </p:blipFill>
        <p:spPr>
          <a:xfrm>
            <a:off x="9204888" y="1642105"/>
            <a:ext cx="2522439" cy="2149026"/>
          </a:xfrm>
          <a:prstGeom prst="rect">
            <a:avLst/>
          </a:prstGeom>
        </p:spPr>
      </p:pic>
    </p:spTree>
    <p:extLst>
      <p:ext uri="{BB962C8B-B14F-4D97-AF65-F5344CB8AC3E}">
        <p14:creationId xmlns:p14="http://schemas.microsoft.com/office/powerpoint/2010/main" val="2455819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9E26A7-07CE-FB06-ABE4-03B6370FD45C}"/>
              </a:ext>
            </a:extLst>
          </p:cNvPr>
          <p:cNvSpPr>
            <a:spLocks noGrp="1"/>
          </p:cNvSpPr>
          <p:nvPr>
            <p:ph type="title"/>
          </p:nvPr>
        </p:nvSpPr>
        <p:spPr>
          <a:xfrm>
            <a:off x="838200" y="365126"/>
            <a:ext cx="10515600" cy="730028"/>
          </a:xfrm>
        </p:spPr>
        <p:txBody>
          <a:bodyPr>
            <a:noAutofit/>
          </a:bodyPr>
          <a:lstStyle/>
          <a:p>
            <a:r>
              <a:rPr lang="tr-TR" sz="2400" dirty="0"/>
              <a:t>LSTM MODEL OPTİMAL HİPERPARAMETRELERİ(Soldan SağaDataset1 için Normal </a:t>
            </a:r>
            <a:r>
              <a:rPr lang="tr-TR" sz="2400" dirty="0" err="1"/>
              <a:t>LSTM,LSTM+Attention,aynısı</a:t>
            </a:r>
            <a:r>
              <a:rPr lang="tr-TR" sz="2400" dirty="0"/>
              <a:t> Dataset2 için de geçerli)</a:t>
            </a:r>
          </a:p>
        </p:txBody>
      </p:sp>
      <p:pic>
        <p:nvPicPr>
          <p:cNvPr id="5" name="İçerik Yer Tutucusu 4">
            <a:extLst>
              <a:ext uri="{FF2B5EF4-FFF2-40B4-BE49-F238E27FC236}">
                <a16:creationId xmlns:a16="http://schemas.microsoft.com/office/drawing/2014/main" id="{5ED63371-93E2-9560-BED5-629610971DD0}"/>
              </a:ext>
            </a:extLst>
          </p:cNvPr>
          <p:cNvPicPr>
            <a:picLocks noGrp="1" noChangeAspect="1"/>
          </p:cNvPicPr>
          <p:nvPr>
            <p:ph idx="1"/>
          </p:nvPr>
        </p:nvPicPr>
        <p:blipFill>
          <a:blip r:embed="rId2"/>
          <a:stretch>
            <a:fillRect/>
          </a:stretch>
        </p:blipFill>
        <p:spPr>
          <a:xfrm>
            <a:off x="838200" y="1198432"/>
            <a:ext cx="2511056" cy="4808963"/>
          </a:xfrm>
        </p:spPr>
      </p:pic>
      <p:pic>
        <p:nvPicPr>
          <p:cNvPr id="7" name="Resim 6">
            <a:extLst>
              <a:ext uri="{FF2B5EF4-FFF2-40B4-BE49-F238E27FC236}">
                <a16:creationId xmlns:a16="http://schemas.microsoft.com/office/drawing/2014/main" id="{1B1C236C-9647-0D54-ED80-B838CB0C45AA}"/>
              </a:ext>
            </a:extLst>
          </p:cNvPr>
          <p:cNvPicPr>
            <a:picLocks noChangeAspect="1"/>
          </p:cNvPicPr>
          <p:nvPr/>
        </p:nvPicPr>
        <p:blipFill>
          <a:blip r:embed="rId3"/>
          <a:stretch>
            <a:fillRect/>
          </a:stretch>
        </p:blipFill>
        <p:spPr>
          <a:xfrm>
            <a:off x="3678865" y="1198433"/>
            <a:ext cx="2417135" cy="4808962"/>
          </a:xfrm>
          <a:prstGeom prst="rect">
            <a:avLst/>
          </a:prstGeom>
        </p:spPr>
      </p:pic>
      <p:pic>
        <p:nvPicPr>
          <p:cNvPr id="9" name="Resim 8">
            <a:extLst>
              <a:ext uri="{FF2B5EF4-FFF2-40B4-BE49-F238E27FC236}">
                <a16:creationId xmlns:a16="http://schemas.microsoft.com/office/drawing/2014/main" id="{6DFA4BED-10BE-EB9A-0B5F-340C302E6351}"/>
              </a:ext>
            </a:extLst>
          </p:cNvPr>
          <p:cNvPicPr>
            <a:picLocks noChangeAspect="1"/>
          </p:cNvPicPr>
          <p:nvPr/>
        </p:nvPicPr>
        <p:blipFill>
          <a:blip r:embed="rId4"/>
          <a:stretch>
            <a:fillRect/>
          </a:stretch>
        </p:blipFill>
        <p:spPr>
          <a:xfrm>
            <a:off x="6270500" y="1198432"/>
            <a:ext cx="2417135" cy="4585680"/>
          </a:xfrm>
          <a:prstGeom prst="rect">
            <a:avLst/>
          </a:prstGeom>
        </p:spPr>
      </p:pic>
      <p:pic>
        <p:nvPicPr>
          <p:cNvPr id="11" name="Resim 10">
            <a:extLst>
              <a:ext uri="{FF2B5EF4-FFF2-40B4-BE49-F238E27FC236}">
                <a16:creationId xmlns:a16="http://schemas.microsoft.com/office/drawing/2014/main" id="{4932CA85-B656-1FD2-21D9-919EAB48EF08}"/>
              </a:ext>
            </a:extLst>
          </p:cNvPr>
          <p:cNvPicPr>
            <a:picLocks noChangeAspect="1"/>
          </p:cNvPicPr>
          <p:nvPr/>
        </p:nvPicPr>
        <p:blipFill>
          <a:blip r:embed="rId5"/>
          <a:stretch>
            <a:fillRect/>
          </a:stretch>
        </p:blipFill>
        <p:spPr>
          <a:xfrm>
            <a:off x="8862135" y="1373714"/>
            <a:ext cx="3003315" cy="4165849"/>
          </a:xfrm>
          <a:prstGeom prst="rect">
            <a:avLst/>
          </a:prstGeom>
        </p:spPr>
      </p:pic>
    </p:spTree>
    <p:extLst>
      <p:ext uri="{BB962C8B-B14F-4D97-AF65-F5344CB8AC3E}">
        <p14:creationId xmlns:p14="http://schemas.microsoft.com/office/powerpoint/2010/main" val="158902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BFAC34-5B51-63AC-1EA0-1C632A6252AC}"/>
              </a:ext>
            </a:extLst>
          </p:cNvPr>
          <p:cNvSpPr>
            <a:spLocks noGrp="1"/>
          </p:cNvSpPr>
          <p:nvPr>
            <p:ph type="title"/>
          </p:nvPr>
        </p:nvSpPr>
        <p:spPr>
          <a:xfrm>
            <a:off x="838200" y="365126"/>
            <a:ext cx="10515600" cy="761926"/>
          </a:xfrm>
        </p:spPr>
        <p:txBody>
          <a:bodyPr>
            <a:normAutofit fontScale="90000"/>
          </a:bodyPr>
          <a:lstStyle/>
          <a:p>
            <a:r>
              <a:rPr lang="tr-TR" dirty="0" err="1"/>
              <a:t>Random</a:t>
            </a:r>
            <a:r>
              <a:rPr lang="tr-TR" dirty="0"/>
              <a:t> </a:t>
            </a:r>
            <a:r>
              <a:rPr lang="tr-TR" dirty="0" err="1"/>
              <a:t>Forest</a:t>
            </a:r>
            <a:r>
              <a:rPr lang="tr-TR" dirty="0"/>
              <a:t> Metrikleri(</a:t>
            </a:r>
            <a:r>
              <a:rPr lang="tr-TR" dirty="0" err="1"/>
              <a:t>Dataset</a:t>
            </a:r>
            <a:r>
              <a:rPr lang="tr-TR" dirty="0"/>
              <a:t> 1-2,üstten alta </a:t>
            </a:r>
            <a:r>
              <a:rPr lang="tr-TR" dirty="0" err="1"/>
              <a:t>klasik,threshold</a:t>
            </a:r>
            <a:r>
              <a:rPr lang="tr-TR" dirty="0"/>
              <a:t> ve konum)</a:t>
            </a:r>
          </a:p>
        </p:txBody>
      </p:sp>
      <p:pic>
        <p:nvPicPr>
          <p:cNvPr id="5" name="İçerik Yer Tutucusu 4">
            <a:extLst>
              <a:ext uri="{FF2B5EF4-FFF2-40B4-BE49-F238E27FC236}">
                <a16:creationId xmlns:a16="http://schemas.microsoft.com/office/drawing/2014/main" id="{F97EEBBB-23D9-740D-D844-6B4A4549297F}"/>
              </a:ext>
            </a:extLst>
          </p:cNvPr>
          <p:cNvPicPr>
            <a:picLocks noGrp="1" noChangeAspect="1"/>
          </p:cNvPicPr>
          <p:nvPr>
            <p:ph idx="1"/>
          </p:nvPr>
        </p:nvPicPr>
        <p:blipFill>
          <a:blip r:embed="rId2"/>
          <a:stretch>
            <a:fillRect/>
          </a:stretch>
        </p:blipFill>
        <p:spPr>
          <a:xfrm>
            <a:off x="942062" y="1209929"/>
            <a:ext cx="5153938" cy="470016"/>
          </a:xfrm>
        </p:spPr>
      </p:pic>
      <p:pic>
        <p:nvPicPr>
          <p:cNvPr id="7" name="Resim 6">
            <a:extLst>
              <a:ext uri="{FF2B5EF4-FFF2-40B4-BE49-F238E27FC236}">
                <a16:creationId xmlns:a16="http://schemas.microsoft.com/office/drawing/2014/main" id="{D280F877-060F-4C41-2830-D18E6B711919}"/>
              </a:ext>
            </a:extLst>
          </p:cNvPr>
          <p:cNvPicPr>
            <a:picLocks noChangeAspect="1"/>
          </p:cNvPicPr>
          <p:nvPr/>
        </p:nvPicPr>
        <p:blipFill>
          <a:blip r:embed="rId3"/>
          <a:stretch>
            <a:fillRect/>
          </a:stretch>
        </p:blipFill>
        <p:spPr>
          <a:xfrm>
            <a:off x="942061" y="1762822"/>
            <a:ext cx="4831417" cy="1926677"/>
          </a:xfrm>
          <a:prstGeom prst="rect">
            <a:avLst/>
          </a:prstGeom>
        </p:spPr>
      </p:pic>
      <p:pic>
        <p:nvPicPr>
          <p:cNvPr id="9" name="Resim 8">
            <a:extLst>
              <a:ext uri="{FF2B5EF4-FFF2-40B4-BE49-F238E27FC236}">
                <a16:creationId xmlns:a16="http://schemas.microsoft.com/office/drawing/2014/main" id="{C5956B34-444A-62B0-E94B-148A2DA14ED2}"/>
              </a:ext>
            </a:extLst>
          </p:cNvPr>
          <p:cNvPicPr>
            <a:picLocks noChangeAspect="1"/>
          </p:cNvPicPr>
          <p:nvPr/>
        </p:nvPicPr>
        <p:blipFill>
          <a:blip r:embed="rId4"/>
          <a:stretch>
            <a:fillRect/>
          </a:stretch>
        </p:blipFill>
        <p:spPr>
          <a:xfrm>
            <a:off x="942061" y="3772375"/>
            <a:ext cx="4831417" cy="2993355"/>
          </a:xfrm>
          <a:prstGeom prst="rect">
            <a:avLst/>
          </a:prstGeom>
        </p:spPr>
      </p:pic>
      <p:pic>
        <p:nvPicPr>
          <p:cNvPr id="11" name="Resim 10">
            <a:extLst>
              <a:ext uri="{FF2B5EF4-FFF2-40B4-BE49-F238E27FC236}">
                <a16:creationId xmlns:a16="http://schemas.microsoft.com/office/drawing/2014/main" id="{D1FFCBC8-ECB4-E1EA-1673-A04C3E8722B2}"/>
              </a:ext>
            </a:extLst>
          </p:cNvPr>
          <p:cNvPicPr>
            <a:picLocks noChangeAspect="1"/>
          </p:cNvPicPr>
          <p:nvPr/>
        </p:nvPicPr>
        <p:blipFill>
          <a:blip r:embed="rId5"/>
          <a:stretch>
            <a:fillRect/>
          </a:stretch>
        </p:blipFill>
        <p:spPr>
          <a:xfrm>
            <a:off x="6418524" y="1127052"/>
            <a:ext cx="3596952" cy="701101"/>
          </a:xfrm>
          <a:prstGeom prst="rect">
            <a:avLst/>
          </a:prstGeom>
        </p:spPr>
      </p:pic>
      <p:pic>
        <p:nvPicPr>
          <p:cNvPr id="13" name="Resim 12">
            <a:extLst>
              <a:ext uri="{FF2B5EF4-FFF2-40B4-BE49-F238E27FC236}">
                <a16:creationId xmlns:a16="http://schemas.microsoft.com/office/drawing/2014/main" id="{20236E60-26BE-0876-07C2-6EE71AB5D6DA}"/>
              </a:ext>
            </a:extLst>
          </p:cNvPr>
          <p:cNvPicPr>
            <a:picLocks noChangeAspect="1"/>
          </p:cNvPicPr>
          <p:nvPr/>
        </p:nvPicPr>
        <p:blipFill>
          <a:blip r:embed="rId6"/>
          <a:stretch>
            <a:fillRect/>
          </a:stretch>
        </p:blipFill>
        <p:spPr>
          <a:xfrm>
            <a:off x="6323266" y="1888978"/>
            <a:ext cx="3787468" cy="1726092"/>
          </a:xfrm>
          <a:prstGeom prst="rect">
            <a:avLst/>
          </a:prstGeom>
        </p:spPr>
      </p:pic>
      <p:pic>
        <p:nvPicPr>
          <p:cNvPr id="15" name="Resim 14">
            <a:extLst>
              <a:ext uri="{FF2B5EF4-FFF2-40B4-BE49-F238E27FC236}">
                <a16:creationId xmlns:a16="http://schemas.microsoft.com/office/drawing/2014/main" id="{76C675F1-D3DB-9DF6-E934-06F667D9E48C}"/>
              </a:ext>
            </a:extLst>
          </p:cNvPr>
          <p:cNvPicPr>
            <a:picLocks noChangeAspect="1"/>
          </p:cNvPicPr>
          <p:nvPr/>
        </p:nvPicPr>
        <p:blipFill>
          <a:blip r:embed="rId7"/>
          <a:stretch>
            <a:fillRect/>
          </a:stretch>
        </p:blipFill>
        <p:spPr>
          <a:xfrm>
            <a:off x="6609910" y="3772375"/>
            <a:ext cx="3055885" cy="2575783"/>
          </a:xfrm>
          <a:prstGeom prst="rect">
            <a:avLst/>
          </a:prstGeom>
        </p:spPr>
      </p:pic>
    </p:spTree>
    <p:extLst>
      <p:ext uri="{BB962C8B-B14F-4D97-AF65-F5344CB8AC3E}">
        <p14:creationId xmlns:p14="http://schemas.microsoft.com/office/powerpoint/2010/main" val="1653240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9151463-3546-6D2C-84F9-6E5FFA7EA81D}"/>
              </a:ext>
            </a:extLst>
          </p:cNvPr>
          <p:cNvSpPr>
            <a:spLocks noGrp="1"/>
          </p:cNvSpPr>
          <p:nvPr>
            <p:ph type="title"/>
          </p:nvPr>
        </p:nvSpPr>
        <p:spPr>
          <a:xfrm>
            <a:off x="838200" y="365126"/>
            <a:ext cx="10515600" cy="485480"/>
          </a:xfrm>
        </p:spPr>
        <p:txBody>
          <a:bodyPr>
            <a:normAutofit fontScale="90000"/>
          </a:bodyPr>
          <a:lstStyle/>
          <a:p>
            <a:r>
              <a:rPr lang="tr-TR" sz="4000" dirty="0"/>
              <a:t>XGBOOST METRİKLERİ(Üstten Alta Aynı Şekilde)</a:t>
            </a:r>
          </a:p>
        </p:txBody>
      </p:sp>
      <p:pic>
        <p:nvPicPr>
          <p:cNvPr id="5" name="İçerik Yer Tutucusu 4">
            <a:extLst>
              <a:ext uri="{FF2B5EF4-FFF2-40B4-BE49-F238E27FC236}">
                <a16:creationId xmlns:a16="http://schemas.microsoft.com/office/drawing/2014/main" id="{1E99DECB-E23E-4E3E-4A97-F02EB6006F9C}"/>
              </a:ext>
            </a:extLst>
          </p:cNvPr>
          <p:cNvPicPr>
            <a:picLocks noGrp="1" noChangeAspect="1"/>
          </p:cNvPicPr>
          <p:nvPr>
            <p:ph idx="1"/>
          </p:nvPr>
        </p:nvPicPr>
        <p:blipFill>
          <a:blip r:embed="rId2"/>
          <a:stretch>
            <a:fillRect/>
          </a:stretch>
        </p:blipFill>
        <p:spPr>
          <a:xfrm>
            <a:off x="838200" y="877187"/>
            <a:ext cx="4667901" cy="622004"/>
          </a:xfrm>
        </p:spPr>
      </p:pic>
      <p:pic>
        <p:nvPicPr>
          <p:cNvPr id="7" name="Resim 6">
            <a:extLst>
              <a:ext uri="{FF2B5EF4-FFF2-40B4-BE49-F238E27FC236}">
                <a16:creationId xmlns:a16="http://schemas.microsoft.com/office/drawing/2014/main" id="{9F6EB79C-C10C-E654-CB48-00E954C3D64B}"/>
              </a:ext>
            </a:extLst>
          </p:cNvPr>
          <p:cNvPicPr>
            <a:picLocks noChangeAspect="1"/>
          </p:cNvPicPr>
          <p:nvPr/>
        </p:nvPicPr>
        <p:blipFill>
          <a:blip r:embed="rId3"/>
          <a:stretch>
            <a:fillRect/>
          </a:stretch>
        </p:blipFill>
        <p:spPr>
          <a:xfrm>
            <a:off x="838200" y="1525772"/>
            <a:ext cx="4667900" cy="2759149"/>
          </a:xfrm>
          <a:prstGeom prst="rect">
            <a:avLst/>
          </a:prstGeom>
        </p:spPr>
      </p:pic>
      <p:pic>
        <p:nvPicPr>
          <p:cNvPr id="9" name="Resim 8">
            <a:extLst>
              <a:ext uri="{FF2B5EF4-FFF2-40B4-BE49-F238E27FC236}">
                <a16:creationId xmlns:a16="http://schemas.microsoft.com/office/drawing/2014/main" id="{53A416A8-925B-0765-00E0-0BFB481F4D2C}"/>
              </a:ext>
            </a:extLst>
          </p:cNvPr>
          <p:cNvPicPr>
            <a:picLocks noChangeAspect="1"/>
          </p:cNvPicPr>
          <p:nvPr/>
        </p:nvPicPr>
        <p:blipFill>
          <a:blip r:embed="rId4"/>
          <a:stretch>
            <a:fillRect/>
          </a:stretch>
        </p:blipFill>
        <p:spPr>
          <a:xfrm>
            <a:off x="1056166" y="4383386"/>
            <a:ext cx="4449933" cy="2109488"/>
          </a:xfrm>
          <a:prstGeom prst="rect">
            <a:avLst/>
          </a:prstGeom>
        </p:spPr>
      </p:pic>
      <p:pic>
        <p:nvPicPr>
          <p:cNvPr id="11" name="Resim 10">
            <a:extLst>
              <a:ext uri="{FF2B5EF4-FFF2-40B4-BE49-F238E27FC236}">
                <a16:creationId xmlns:a16="http://schemas.microsoft.com/office/drawing/2014/main" id="{04C4B07D-9BED-03A3-E8D2-5B6439A9183A}"/>
              </a:ext>
            </a:extLst>
          </p:cNvPr>
          <p:cNvPicPr>
            <a:picLocks noChangeAspect="1"/>
          </p:cNvPicPr>
          <p:nvPr/>
        </p:nvPicPr>
        <p:blipFill>
          <a:blip r:embed="rId5"/>
          <a:stretch>
            <a:fillRect/>
          </a:stretch>
        </p:blipFill>
        <p:spPr>
          <a:xfrm>
            <a:off x="6096000" y="877187"/>
            <a:ext cx="3604572" cy="701101"/>
          </a:xfrm>
          <a:prstGeom prst="rect">
            <a:avLst/>
          </a:prstGeom>
        </p:spPr>
      </p:pic>
      <p:pic>
        <p:nvPicPr>
          <p:cNvPr id="13" name="Resim 12">
            <a:extLst>
              <a:ext uri="{FF2B5EF4-FFF2-40B4-BE49-F238E27FC236}">
                <a16:creationId xmlns:a16="http://schemas.microsoft.com/office/drawing/2014/main" id="{BDD6B0E4-B225-10D1-F666-B9EAE97593E5}"/>
              </a:ext>
            </a:extLst>
          </p:cNvPr>
          <p:cNvPicPr>
            <a:picLocks noChangeAspect="1"/>
          </p:cNvPicPr>
          <p:nvPr/>
        </p:nvPicPr>
        <p:blipFill>
          <a:blip r:embed="rId6"/>
          <a:stretch>
            <a:fillRect/>
          </a:stretch>
        </p:blipFill>
        <p:spPr>
          <a:xfrm>
            <a:off x="6176948" y="1662810"/>
            <a:ext cx="4104735" cy="2101116"/>
          </a:xfrm>
          <a:prstGeom prst="rect">
            <a:avLst/>
          </a:prstGeom>
        </p:spPr>
      </p:pic>
      <p:pic>
        <p:nvPicPr>
          <p:cNvPr id="15" name="Resim 14">
            <a:extLst>
              <a:ext uri="{FF2B5EF4-FFF2-40B4-BE49-F238E27FC236}">
                <a16:creationId xmlns:a16="http://schemas.microsoft.com/office/drawing/2014/main" id="{334E6732-CB13-70AD-61F0-664965F3DFBB}"/>
              </a:ext>
            </a:extLst>
          </p:cNvPr>
          <p:cNvPicPr>
            <a:picLocks noChangeAspect="1"/>
          </p:cNvPicPr>
          <p:nvPr/>
        </p:nvPicPr>
        <p:blipFill>
          <a:blip r:embed="rId7"/>
          <a:stretch>
            <a:fillRect/>
          </a:stretch>
        </p:blipFill>
        <p:spPr>
          <a:xfrm>
            <a:off x="6827583" y="3848447"/>
            <a:ext cx="2872989" cy="2741723"/>
          </a:xfrm>
          <a:prstGeom prst="rect">
            <a:avLst/>
          </a:prstGeom>
        </p:spPr>
      </p:pic>
    </p:spTree>
    <p:extLst>
      <p:ext uri="{BB962C8B-B14F-4D97-AF65-F5344CB8AC3E}">
        <p14:creationId xmlns:p14="http://schemas.microsoft.com/office/powerpoint/2010/main" val="1450145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C96A98-9A26-D825-4A8B-75CD8BC6CB20}"/>
              </a:ext>
            </a:extLst>
          </p:cNvPr>
          <p:cNvSpPr>
            <a:spLocks noGrp="1"/>
          </p:cNvSpPr>
          <p:nvPr>
            <p:ph type="title"/>
          </p:nvPr>
        </p:nvSpPr>
        <p:spPr>
          <a:xfrm>
            <a:off x="838200" y="365126"/>
            <a:ext cx="10515600" cy="559908"/>
          </a:xfrm>
        </p:spPr>
        <p:txBody>
          <a:bodyPr>
            <a:normAutofit fontScale="90000"/>
          </a:bodyPr>
          <a:lstStyle/>
          <a:p>
            <a:r>
              <a:rPr lang="tr-TR" dirty="0"/>
              <a:t>MLP Metrikleri</a:t>
            </a:r>
          </a:p>
        </p:txBody>
      </p:sp>
      <p:pic>
        <p:nvPicPr>
          <p:cNvPr id="5" name="İçerik Yer Tutucusu 4">
            <a:extLst>
              <a:ext uri="{FF2B5EF4-FFF2-40B4-BE49-F238E27FC236}">
                <a16:creationId xmlns:a16="http://schemas.microsoft.com/office/drawing/2014/main" id="{CC700119-025C-4B8B-877C-5D9AABCD2CC0}"/>
              </a:ext>
            </a:extLst>
          </p:cNvPr>
          <p:cNvPicPr>
            <a:picLocks noGrp="1" noChangeAspect="1"/>
          </p:cNvPicPr>
          <p:nvPr>
            <p:ph idx="1"/>
          </p:nvPr>
        </p:nvPicPr>
        <p:blipFill>
          <a:blip r:embed="rId2"/>
          <a:stretch>
            <a:fillRect/>
          </a:stretch>
        </p:blipFill>
        <p:spPr>
          <a:xfrm>
            <a:off x="838200" y="925034"/>
            <a:ext cx="4176122" cy="708721"/>
          </a:xfrm>
        </p:spPr>
      </p:pic>
      <p:pic>
        <p:nvPicPr>
          <p:cNvPr id="7" name="Resim 6">
            <a:extLst>
              <a:ext uri="{FF2B5EF4-FFF2-40B4-BE49-F238E27FC236}">
                <a16:creationId xmlns:a16="http://schemas.microsoft.com/office/drawing/2014/main" id="{54CFF7CD-8FB3-5F4E-82D4-CDC3BED587CC}"/>
              </a:ext>
            </a:extLst>
          </p:cNvPr>
          <p:cNvPicPr>
            <a:picLocks noChangeAspect="1"/>
          </p:cNvPicPr>
          <p:nvPr/>
        </p:nvPicPr>
        <p:blipFill>
          <a:blip r:embed="rId3"/>
          <a:stretch>
            <a:fillRect/>
          </a:stretch>
        </p:blipFill>
        <p:spPr>
          <a:xfrm>
            <a:off x="1048535" y="1722474"/>
            <a:ext cx="3385242" cy="2073350"/>
          </a:xfrm>
          <a:prstGeom prst="rect">
            <a:avLst/>
          </a:prstGeom>
        </p:spPr>
      </p:pic>
      <p:pic>
        <p:nvPicPr>
          <p:cNvPr id="9" name="Resim 8">
            <a:extLst>
              <a:ext uri="{FF2B5EF4-FFF2-40B4-BE49-F238E27FC236}">
                <a16:creationId xmlns:a16="http://schemas.microsoft.com/office/drawing/2014/main" id="{914ADC46-BBDF-5B36-0499-84C9F4542598}"/>
              </a:ext>
            </a:extLst>
          </p:cNvPr>
          <p:cNvPicPr>
            <a:picLocks noChangeAspect="1"/>
          </p:cNvPicPr>
          <p:nvPr/>
        </p:nvPicPr>
        <p:blipFill>
          <a:blip r:embed="rId4"/>
          <a:stretch>
            <a:fillRect/>
          </a:stretch>
        </p:blipFill>
        <p:spPr>
          <a:xfrm>
            <a:off x="1048535" y="3795824"/>
            <a:ext cx="2956816" cy="3021676"/>
          </a:xfrm>
          <a:prstGeom prst="rect">
            <a:avLst/>
          </a:prstGeom>
        </p:spPr>
      </p:pic>
      <p:pic>
        <p:nvPicPr>
          <p:cNvPr id="11" name="Resim 10">
            <a:extLst>
              <a:ext uri="{FF2B5EF4-FFF2-40B4-BE49-F238E27FC236}">
                <a16:creationId xmlns:a16="http://schemas.microsoft.com/office/drawing/2014/main" id="{F2B6C5F2-AD9E-83F7-906C-DC1C07BFC5B7}"/>
              </a:ext>
            </a:extLst>
          </p:cNvPr>
          <p:cNvPicPr>
            <a:picLocks noChangeAspect="1"/>
          </p:cNvPicPr>
          <p:nvPr/>
        </p:nvPicPr>
        <p:blipFill>
          <a:blip r:embed="rId5"/>
          <a:stretch>
            <a:fillRect/>
          </a:stretch>
        </p:blipFill>
        <p:spPr>
          <a:xfrm>
            <a:off x="4626769" y="799293"/>
            <a:ext cx="3810330" cy="960203"/>
          </a:xfrm>
          <a:prstGeom prst="rect">
            <a:avLst/>
          </a:prstGeom>
        </p:spPr>
      </p:pic>
      <p:pic>
        <p:nvPicPr>
          <p:cNvPr id="13" name="Resim 12">
            <a:extLst>
              <a:ext uri="{FF2B5EF4-FFF2-40B4-BE49-F238E27FC236}">
                <a16:creationId xmlns:a16="http://schemas.microsoft.com/office/drawing/2014/main" id="{A709898B-47BF-93ED-340A-73DD184160C2}"/>
              </a:ext>
            </a:extLst>
          </p:cNvPr>
          <p:cNvPicPr>
            <a:picLocks noChangeAspect="1"/>
          </p:cNvPicPr>
          <p:nvPr/>
        </p:nvPicPr>
        <p:blipFill>
          <a:blip r:embed="rId6"/>
          <a:stretch>
            <a:fillRect/>
          </a:stretch>
        </p:blipFill>
        <p:spPr>
          <a:xfrm>
            <a:off x="4626770" y="1759497"/>
            <a:ext cx="3810330" cy="1940634"/>
          </a:xfrm>
          <a:prstGeom prst="rect">
            <a:avLst/>
          </a:prstGeom>
        </p:spPr>
      </p:pic>
      <p:pic>
        <p:nvPicPr>
          <p:cNvPr id="15" name="Resim 14">
            <a:extLst>
              <a:ext uri="{FF2B5EF4-FFF2-40B4-BE49-F238E27FC236}">
                <a16:creationId xmlns:a16="http://schemas.microsoft.com/office/drawing/2014/main" id="{02E6FB61-D73B-4C92-5418-D3E11F9B1AC8}"/>
              </a:ext>
            </a:extLst>
          </p:cNvPr>
          <p:cNvPicPr>
            <a:picLocks noChangeAspect="1"/>
          </p:cNvPicPr>
          <p:nvPr/>
        </p:nvPicPr>
        <p:blipFill>
          <a:blip r:embed="rId7"/>
          <a:stretch>
            <a:fillRect/>
          </a:stretch>
        </p:blipFill>
        <p:spPr>
          <a:xfrm>
            <a:off x="4626769" y="3700130"/>
            <a:ext cx="3385243" cy="2792743"/>
          </a:xfrm>
          <a:prstGeom prst="rect">
            <a:avLst/>
          </a:prstGeom>
        </p:spPr>
      </p:pic>
      <p:pic>
        <p:nvPicPr>
          <p:cNvPr id="17" name="Resim 16">
            <a:extLst>
              <a:ext uri="{FF2B5EF4-FFF2-40B4-BE49-F238E27FC236}">
                <a16:creationId xmlns:a16="http://schemas.microsoft.com/office/drawing/2014/main" id="{CAFBF13A-10A4-0B1A-3B43-FA82CC87DE62}"/>
              </a:ext>
            </a:extLst>
          </p:cNvPr>
          <p:cNvPicPr>
            <a:picLocks noChangeAspect="1"/>
          </p:cNvPicPr>
          <p:nvPr/>
        </p:nvPicPr>
        <p:blipFill>
          <a:blip r:embed="rId8"/>
          <a:stretch>
            <a:fillRect/>
          </a:stretch>
        </p:blipFill>
        <p:spPr>
          <a:xfrm>
            <a:off x="8437099" y="945167"/>
            <a:ext cx="3520745" cy="777307"/>
          </a:xfrm>
          <a:prstGeom prst="rect">
            <a:avLst/>
          </a:prstGeom>
        </p:spPr>
      </p:pic>
      <p:pic>
        <p:nvPicPr>
          <p:cNvPr id="19" name="Resim 18">
            <a:extLst>
              <a:ext uri="{FF2B5EF4-FFF2-40B4-BE49-F238E27FC236}">
                <a16:creationId xmlns:a16="http://schemas.microsoft.com/office/drawing/2014/main" id="{03B632B6-F83D-F1A1-8F1A-2EFA649E065D}"/>
              </a:ext>
            </a:extLst>
          </p:cNvPr>
          <p:cNvPicPr>
            <a:picLocks noChangeAspect="1"/>
          </p:cNvPicPr>
          <p:nvPr/>
        </p:nvPicPr>
        <p:blipFill>
          <a:blip r:embed="rId9"/>
          <a:stretch>
            <a:fillRect/>
          </a:stretch>
        </p:blipFill>
        <p:spPr>
          <a:xfrm>
            <a:off x="8437099" y="1653965"/>
            <a:ext cx="2916701" cy="2073350"/>
          </a:xfrm>
          <a:prstGeom prst="rect">
            <a:avLst/>
          </a:prstGeom>
        </p:spPr>
      </p:pic>
      <p:pic>
        <p:nvPicPr>
          <p:cNvPr id="21" name="Resim 20">
            <a:extLst>
              <a:ext uri="{FF2B5EF4-FFF2-40B4-BE49-F238E27FC236}">
                <a16:creationId xmlns:a16="http://schemas.microsoft.com/office/drawing/2014/main" id="{CFD26F32-36E1-808D-A523-471C3005D0E3}"/>
              </a:ext>
            </a:extLst>
          </p:cNvPr>
          <p:cNvPicPr>
            <a:picLocks noChangeAspect="1"/>
          </p:cNvPicPr>
          <p:nvPr/>
        </p:nvPicPr>
        <p:blipFill>
          <a:blip r:embed="rId10"/>
          <a:stretch>
            <a:fillRect/>
          </a:stretch>
        </p:blipFill>
        <p:spPr>
          <a:xfrm>
            <a:off x="8437099" y="3795824"/>
            <a:ext cx="3086367" cy="2866652"/>
          </a:xfrm>
          <a:prstGeom prst="rect">
            <a:avLst/>
          </a:prstGeom>
        </p:spPr>
      </p:pic>
    </p:spTree>
    <p:extLst>
      <p:ext uri="{BB962C8B-B14F-4D97-AF65-F5344CB8AC3E}">
        <p14:creationId xmlns:p14="http://schemas.microsoft.com/office/powerpoint/2010/main" val="3263844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E290E3-6C63-5B72-F056-9FD6F5A7F318}"/>
              </a:ext>
            </a:extLst>
          </p:cNvPr>
          <p:cNvSpPr>
            <a:spLocks noGrp="1"/>
          </p:cNvSpPr>
          <p:nvPr>
            <p:ph type="title"/>
          </p:nvPr>
        </p:nvSpPr>
        <p:spPr>
          <a:xfrm>
            <a:off x="838200" y="365125"/>
            <a:ext cx="10515600" cy="506745"/>
          </a:xfrm>
        </p:spPr>
        <p:txBody>
          <a:bodyPr>
            <a:normAutofit fontScale="90000"/>
          </a:bodyPr>
          <a:lstStyle/>
          <a:p>
            <a:r>
              <a:rPr lang="tr-TR" dirty="0"/>
              <a:t>NORMAL LSTM METRİKLERİ(Dataset1-2)</a:t>
            </a:r>
          </a:p>
        </p:txBody>
      </p:sp>
      <p:pic>
        <p:nvPicPr>
          <p:cNvPr id="5" name="İçerik Yer Tutucusu 4">
            <a:extLst>
              <a:ext uri="{FF2B5EF4-FFF2-40B4-BE49-F238E27FC236}">
                <a16:creationId xmlns:a16="http://schemas.microsoft.com/office/drawing/2014/main" id="{5E5F6AE3-58BD-2FE9-DDAE-BFAC30007388}"/>
              </a:ext>
            </a:extLst>
          </p:cNvPr>
          <p:cNvPicPr>
            <a:picLocks noGrp="1" noChangeAspect="1"/>
          </p:cNvPicPr>
          <p:nvPr>
            <p:ph idx="1"/>
          </p:nvPr>
        </p:nvPicPr>
        <p:blipFill>
          <a:blip r:embed="rId2"/>
          <a:stretch>
            <a:fillRect/>
          </a:stretch>
        </p:blipFill>
        <p:spPr>
          <a:xfrm>
            <a:off x="1026070" y="871870"/>
            <a:ext cx="4704878" cy="800169"/>
          </a:xfrm>
        </p:spPr>
      </p:pic>
      <p:pic>
        <p:nvPicPr>
          <p:cNvPr id="7" name="Resim 6">
            <a:extLst>
              <a:ext uri="{FF2B5EF4-FFF2-40B4-BE49-F238E27FC236}">
                <a16:creationId xmlns:a16="http://schemas.microsoft.com/office/drawing/2014/main" id="{82640209-805F-8479-CAD8-53A1E963E1A6}"/>
              </a:ext>
            </a:extLst>
          </p:cNvPr>
          <p:cNvPicPr>
            <a:picLocks noChangeAspect="1"/>
          </p:cNvPicPr>
          <p:nvPr/>
        </p:nvPicPr>
        <p:blipFill>
          <a:blip r:embed="rId3"/>
          <a:stretch>
            <a:fillRect/>
          </a:stretch>
        </p:blipFill>
        <p:spPr>
          <a:xfrm>
            <a:off x="1026070" y="1672039"/>
            <a:ext cx="3177815" cy="2198212"/>
          </a:xfrm>
          <a:prstGeom prst="rect">
            <a:avLst/>
          </a:prstGeom>
        </p:spPr>
      </p:pic>
      <p:pic>
        <p:nvPicPr>
          <p:cNvPr id="9" name="Resim 8">
            <a:extLst>
              <a:ext uri="{FF2B5EF4-FFF2-40B4-BE49-F238E27FC236}">
                <a16:creationId xmlns:a16="http://schemas.microsoft.com/office/drawing/2014/main" id="{DA167C65-A31C-25BE-BB5A-50425FDEB639}"/>
              </a:ext>
            </a:extLst>
          </p:cNvPr>
          <p:cNvPicPr>
            <a:picLocks noChangeAspect="1"/>
          </p:cNvPicPr>
          <p:nvPr/>
        </p:nvPicPr>
        <p:blipFill>
          <a:blip r:embed="rId4"/>
          <a:stretch>
            <a:fillRect/>
          </a:stretch>
        </p:blipFill>
        <p:spPr>
          <a:xfrm>
            <a:off x="1026070" y="4050360"/>
            <a:ext cx="3109229" cy="2606266"/>
          </a:xfrm>
          <a:prstGeom prst="rect">
            <a:avLst/>
          </a:prstGeom>
        </p:spPr>
      </p:pic>
      <p:pic>
        <p:nvPicPr>
          <p:cNvPr id="11" name="Resim 10">
            <a:extLst>
              <a:ext uri="{FF2B5EF4-FFF2-40B4-BE49-F238E27FC236}">
                <a16:creationId xmlns:a16="http://schemas.microsoft.com/office/drawing/2014/main" id="{DB364F7A-E0F7-5E71-1F27-EB7C6E690301}"/>
              </a:ext>
            </a:extLst>
          </p:cNvPr>
          <p:cNvPicPr>
            <a:picLocks noChangeAspect="1"/>
          </p:cNvPicPr>
          <p:nvPr/>
        </p:nvPicPr>
        <p:blipFill>
          <a:blip r:embed="rId5"/>
          <a:stretch>
            <a:fillRect/>
          </a:stretch>
        </p:blipFill>
        <p:spPr>
          <a:xfrm>
            <a:off x="6355014" y="871870"/>
            <a:ext cx="4998786" cy="777307"/>
          </a:xfrm>
          <a:prstGeom prst="rect">
            <a:avLst/>
          </a:prstGeom>
        </p:spPr>
      </p:pic>
      <p:pic>
        <p:nvPicPr>
          <p:cNvPr id="13" name="Resim 12">
            <a:extLst>
              <a:ext uri="{FF2B5EF4-FFF2-40B4-BE49-F238E27FC236}">
                <a16:creationId xmlns:a16="http://schemas.microsoft.com/office/drawing/2014/main" id="{4017752D-EC9B-044D-4553-EADE55C83DAB}"/>
              </a:ext>
            </a:extLst>
          </p:cNvPr>
          <p:cNvPicPr>
            <a:picLocks noChangeAspect="1"/>
          </p:cNvPicPr>
          <p:nvPr/>
        </p:nvPicPr>
        <p:blipFill>
          <a:blip r:embed="rId6"/>
          <a:stretch>
            <a:fillRect/>
          </a:stretch>
        </p:blipFill>
        <p:spPr>
          <a:xfrm>
            <a:off x="6355014" y="1649178"/>
            <a:ext cx="3642676" cy="2221074"/>
          </a:xfrm>
          <a:prstGeom prst="rect">
            <a:avLst/>
          </a:prstGeom>
        </p:spPr>
      </p:pic>
      <p:pic>
        <p:nvPicPr>
          <p:cNvPr id="15" name="Resim 14">
            <a:extLst>
              <a:ext uri="{FF2B5EF4-FFF2-40B4-BE49-F238E27FC236}">
                <a16:creationId xmlns:a16="http://schemas.microsoft.com/office/drawing/2014/main" id="{AAFB67FE-9946-4451-786A-E34093D7C3E3}"/>
              </a:ext>
            </a:extLst>
          </p:cNvPr>
          <p:cNvPicPr>
            <a:picLocks noChangeAspect="1"/>
          </p:cNvPicPr>
          <p:nvPr/>
        </p:nvPicPr>
        <p:blipFill>
          <a:blip r:embed="rId7"/>
          <a:stretch>
            <a:fillRect/>
          </a:stretch>
        </p:blipFill>
        <p:spPr>
          <a:xfrm>
            <a:off x="6300141" y="4019878"/>
            <a:ext cx="3513124" cy="2636748"/>
          </a:xfrm>
          <a:prstGeom prst="rect">
            <a:avLst/>
          </a:prstGeom>
        </p:spPr>
      </p:pic>
    </p:spTree>
    <p:extLst>
      <p:ext uri="{BB962C8B-B14F-4D97-AF65-F5344CB8AC3E}">
        <p14:creationId xmlns:p14="http://schemas.microsoft.com/office/powerpoint/2010/main" val="727384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3487FCB-E541-9F96-74B0-8A1C27E45A97}"/>
              </a:ext>
            </a:extLst>
          </p:cNvPr>
          <p:cNvSpPr>
            <a:spLocks noGrp="1"/>
          </p:cNvSpPr>
          <p:nvPr>
            <p:ph type="title"/>
          </p:nvPr>
        </p:nvSpPr>
        <p:spPr>
          <a:xfrm>
            <a:off x="838200" y="365126"/>
            <a:ext cx="10515600" cy="482600"/>
          </a:xfrm>
        </p:spPr>
        <p:txBody>
          <a:bodyPr>
            <a:normAutofit fontScale="90000"/>
          </a:bodyPr>
          <a:lstStyle/>
          <a:p>
            <a:r>
              <a:rPr lang="tr-TR" dirty="0" err="1"/>
              <a:t>LSTM+Attention</a:t>
            </a:r>
            <a:r>
              <a:rPr lang="tr-TR" dirty="0"/>
              <a:t> Metrikleri(</a:t>
            </a:r>
            <a:r>
              <a:rPr lang="tr-TR" dirty="0" err="1"/>
              <a:t>Dataset</a:t>
            </a:r>
            <a:r>
              <a:rPr lang="tr-TR" dirty="0"/>
              <a:t> 1-2)</a:t>
            </a:r>
          </a:p>
        </p:txBody>
      </p:sp>
      <p:pic>
        <p:nvPicPr>
          <p:cNvPr id="5" name="İçerik Yer Tutucusu 4">
            <a:extLst>
              <a:ext uri="{FF2B5EF4-FFF2-40B4-BE49-F238E27FC236}">
                <a16:creationId xmlns:a16="http://schemas.microsoft.com/office/drawing/2014/main" id="{E9FAC3D3-00F9-0F6D-081E-9684AE6C0DA2}"/>
              </a:ext>
            </a:extLst>
          </p:cNvPr>
          <p:cNvPicPr>
            <a:picLocks noGrp="1" noChangeAspect="1"/>
          </p:cNvPicPr>
          <p:nvPr>
            <p:ph idx="1"/>
          </p:nvPr>
        </p:nvPicPr>
        <p:blipFill>
          <a:blip r:embed="rId2"/>
          <a:stretch>
            <a:fillRect/>
          </a:stretch>
        </p:blipFill>
        <p:spPr>
          <a:xfrm>
            <a:off x="838200" y="985325"/>
            <a:ext cx="4616302" cy="762066"/>
          </a:xfrm>
        </p:spPr>
      </p:pic>
      <p:pic>
        <p:nvPicPr>
          <p:cNvPr id="7" name="Resim 6">
            <a:extLst>
              <a:ext uri="{FF2B5EF4-FFF2-40B4-BE49-F238E27FC236}">
                <a16:creationId xmlns:a16="http://schemas.microsoft.com/office/drawing/2014/main" id="{AB73A316-C789-FFE0-3038-D927E7421181}"/>
              </a:ext>
            </a:extLst>
          </p:cNvPr>
          <p:cNvPicPr>
            <a:picLocks noChangeAspect="1"/>
          </p:cNvPicPr>
          <p:nvPr/>
        </p:nvPicPr>
        <p:blipFill>
          <a:blip r:embed="rId3"/>
          <a:stretch>
            <a:fillRect/>
          </a:stretch>
        </p:blipFill>
        <p:spPr>
          <a:xfrm>
            <a:off x="806302" y="1747391"/>
            <a:ext cx="3696020" cy="2271716"/>
          </a:xfrm>
          <a:prstGeom prst="rect">
            <a:avLst/>
          </a:prstGeom>
        </p:spPr>
      </p:pic>
      <p:pic>
        <p:nvPicPr>
          <p:cNvPr id="9" name="Resim 8">
            <a:extLst>
              <a:ext uri="{FF2B5EF4-FFF2-40B4-BE49-F238E27FC236}">
                <a16:creationId xmlns:a16="http://schemas.microsoft.com/office/drawing/2014/main" id="{9D3F3DC7-4C4D-BC38-1B72-B18DDA6DDFE4}"/>
              </a:ext>
            </a:extLst>
          </p:cNvPr>
          <p:cNvPicPr>
            <a:picLocks noChangeAspect="1"/>
          </p:cNvPicPr>
          <p:nvPr/>
        </p:nvPicPr>
        <p:blipFill>
          <a:blip r:embed="rId4"/>
          <a:stretch>
            <a:fillRect/>
          </a:stretch>
        </p:blipFill>
        <p:spPr>
          <a:xfrm>
            <a:off x="961225" y="4019108"/>
            <a:ext cx="3124471" cy="2583712"/>
          </a:xfrm>
          <a:prstGeom prst="rect">
            <a:avLst/>
          </a:prstGeom>
        </p:spPr>
      </p:pic>
      <p:pic>
        <p:nvPicPr>
          <p:cNvPr id="11" name="Resim 10">
            <a:extLst>
              <a:ext uri="{FF2B5EF4-FFF2-40B4-BE49-F238E27FC236}">
                <a16:creationId xmlns:a16="http://schemas.microsoft.com/office/drawing/2014/main" id="{04688FBE-37D2-174C-40E1-0AD3028C8364}"/>
              </a:ext>
            </a:extLst>
          </p:cNvPr>
          <p:cNvPicPr>
            <a:picLocks noChangeAspect="1"/>
          </p:cNvPicPr>
          <p:nvPr/>
        </p:nvPicPr>
        <p:blipFill>
          <a:blip r:embed="rId5"/>
          <a:stretch>
            <a:fillRect/>
          </a:stretch>
        </p:blipFill>
        <p:spPr>
          <a:xfrm>
            <a:off x="5951412" y="1008187"/>
            <a:ext cx="5170244" cy="739204"/>
          </a:xfrm>
          <a:prstGeom prst="rect">
            <a:avLst/>
          </a:prstGeom>
        </p:spPr>
      </p:pic>
      <p:pic>
        <p:nvPicPr>
          <p:cNvPr id="13" name="Resim 12">
            <a:extLst>
              <a:ext uri="{FF2B5EF4-FFF2-40B4-BE49-F238E27FC236}">
                <a16:creationId xmlns:a16="http://schemas.microsoft.com/office/drawing/2014/main" id="{D16FF013-1165-2049-F6EC-3687FAEB35CF}"/>
              </a:ext>
            </a:extLst>
          </p:cNvPr>
          <p:cNvPicPr>
            <a:picLocks noChangeAspect="1"/>
          </p:cNvPicPr>
          <p:nvPr/>
        </p:nvPicPr>
        <p:blipFill>
          <a:blip r:embed="rId6"/>
          <a:stretch>
            <a:fillRect/>
          </a:stretch>
        </p:blipFill>
        <p:spPr>
          <a:xfrm>
            <a:off x="6096000" y="1747391"/>
            <a:ext cx="3779848" cy="2367409"/>
          </a:xfrm>
          <a:prstGeom prst="rect">
            <a:avLst/>
          </a:prstGeom>
        </p:spPr>
      </p:pic>
      <p:pic>
        <p:nvPicPr>
          <p:cNvPr id="15" name="Resim 14">
            <a:extLst>
              <a:ext uri="{FF2B5EF4-FFF2-40B4-BE49-F238E27FC236}">
                <a16:creationId xmlns:a16="http://schemas.microsoft.com/office/drawing/2014/main" id="{A8147C16-71C5-21DA-AAD0-1C6C394A2E99}"/>
              </a:ext>
            </a:extLst>
          </p:cNvPr>
          <p:cNvPicPr>
            <a:picLocks noChangeAspect="1"/>
          </p:cNvPicPr>
          <p:nvPr/>
        </p:nvPicPr>
        <p:blipFill>
          <a:blip r:embed="rId7"/>
          <a:stretch>
            <a:fillRect/>
          </a:stretch>
        </p:blipFill>
        <p:spPr>
          <a:xfrm>
            <a:off x="5951412" y="4114800"/>
            <a:ext cx="4128253" cy="2499577"/>
          </a:xfrm>
          <a:prstGeom prst="rect">
            <a:avLst/>
          </a:prstGeom>
        </p:spPr>
      </p:pic>
    </p:spTree>
    <p:extLst>
      <p:ext uri="{BB962C8B-B14F-4D97-AF65-F5344CB8AC3E}">
        <p14:creationId xmlns:p14="http://schemas.microsoft.com/office/powerpoint/2010/main" val="2867952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EAD1B5-F7B6-97A2-BF3A-88A8F1FA227D}"/>
              </a:ext>
            </a:extLst>
          </p:cNvPr>
          <p:cNvSpPr>
            <a:spLocks noGrp="1"/>
          </p:cNvSpPr>
          <p:nvPr>
            <p:ph type="title"/>
          </p:nvPr>
        </p:nvSpPr>
        <p:spPr>
          <a:xfrm>
            <a:off x="838200" y="365125"/>
            <a:ext cx="10515600" cy="740661"/>
          </a:xfrm>
        </p:spPr>
        <p:txBody>
          <a:bodyPr/>
          <a:lstStyle/>
          <a:p>
            <a:r>
              <a:rPr lang="tr-TR" dirty="0"/>
              <a:t>ÖZET VE SONUÇ</a:t>
            </a:r>
          </a:p>
        </p:txBody>
      </p:sp>
      <p:sp>
        <p:nvSpPr>
          <p:cNvPr id="3" name="İçerik Yer Tutucusu 2">
            <a:extLst>
              <a:ext uri="{FF2B5EF4-FFF2-40B4-BE49-F238E27FC236}">
                <a16:creationId xmlns:a16="http://schemas.microsoft.com/office/drawing/2014/main" id="{EBDADC1D-15BE-CA5A-B102-165EEA5FEE7A}"/>
              </a:ext>
            </a:extLst>
          </p:cNvPr>
          <p:cNvSpPr>
            <a:spLocks noGrp="1"/>
          </p:cNvSpPr>
          <p:nvPr>
            <p:ph idx="1"/>
          </p:nvPr>
        </p:nvSpPr>
        <p:spPr>
          <a:xfrm>
            <a:off x="838200" y="999460"/>
            <a:ext cx="10515600" cy="5177503"/>
          </a:xfrm>
        </p:spPr>
        <p:txBody>
          <a:bodyPr/>
          <a:lstStyle/>
          <a:p>
            <a:r>
              <a:rPr lang="tr-TR" dirty="0"/>
              <a:t>Bu projede tabular deprem verilerinden yararlanarak deprem büyüklüğü ve konumu için tahminler </a:t>
            </a:r>
            <a:r>
              <a:rPr lang="tr-TR" dirty="0" err="1"/>
              <a:t>yaptık.Her</a:t>
            </a:r>
            <a:r>
              <a:rPr lang="tr-TR" dirty="0"/>
              <a:t> modelimizin ortak </a:t>
            </a:r>
            <a:r>
              <a:rPr lang="tr-TR" dirty="0" err="1"/>
              <a:t>özelliği,zaman</a:t>
            </a:r>
            <a:r>
              <a:rPr lang="tr-TR" dirty="0"/>
              <a:t> serimizin son n basamağını kullanarak o andan 1 sonraki zaman dilimi(1 hafta 1yıl vs. </a:t>
            </a:r>
            <a:r>
              <a:rPr lang="tr-TR" dirty="0" err="1"/>
              <a:t>resample</a:t>
            </a:r>
            <a:r>
              <a:rPr lang="tr-TR" dirty="0"/>
              <a:t> a göre değişir.)için tahminler </a:t>
            </a:r>
            <a:r>
              <a:rPr lang="tr-TR" dirty="0" err="1"/>
              <a:t>yapmaktı.Ufak</a:t>
            </a:r>
            <a:r>
              <a:rPr lang="tr-TR" dirty="0"/>
              <a:t> hatalarım olsa da tahmin ve metrikler konusunda net sonuçlar elde </a:t>
            </a:r>
            <a:r>
              <a:rPr lang="tr-TR" dirty="0" err="1"/>
              <a:t>ettik.LSTM</a:t>
            </a:r>
            <a:r>
              <a:rPr lang="tr-TR" dirty="0"/>
              <a:t> ile </a:t>
            </a:r>
            <a:r>
              <a:rPr lang="tr-TR" dirty="0" err="1"/>
              <a:t>Deep</a:t>
            </a:r>
            <a:r>
              <a:rPr lang="tr-TR" dirty="0"/>
              <a:t> </a:t>
            </a:r>
            <a:r>
              <a:rPr lang="tr-TR" dirty="0" err="1"/>
              <a:t>Learning,diğer</a:t>
            </a:r>
            <a:r>
              <a:rPr lang="tr-TR" dirty="0"/>
              <a:t> 3 model tipiyle de Machine Learning kullanımı yaptık.</a:t>
            </a:r>
          </a:p>
          <a:p>
            <a:r>
              <a:rPr lang="tr-TR" dirty="0"/>
              <a:t>Genel olarak </a:t>
            </a:r>
            <a:r>
              <a:rPr lang="tr-TR" dirty="0" err="1"/>
              <a:t>bütüb</a:t>
            </a:r>
            <a:r>
              <a:rPr lang="tr-TR" dirty="0"/>
              <a:t> modellerimiz MSE benzeri metriklerde iyi performans </a:t>
            </a:r>
            <a:r>
              <a:rPr lang="tr-TR" dirty="0" err="1"/>
              <a:t>gösterdi,LSTM</a:t>
            </a:r>
            <a:r>
              <a:rPr lang="tr-TR" dirty="0"/>
              <a:t> ezici bir üstünlük kuramasa da dengeli ve iyi bir görüntü çizdi.</a:t>
            </a:r>
          </a:p>
        </p:txBody>
      </p:sp>
    </p:spTree>
    <p:extLst>
      <p:ext uri="{BB962C8B-B14F-4D97-AF65-F5344CB8AC3E}">
        <p14:creationId xmlns:p14="http://schemas.microsoft.com/office/powerpoint/2010/main" val="1992771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600400-05C8-34BB-797C-B298DE66F5CB}"/>
              </a:ext>
            </a:extLst>
          </p:cNvPr>
          <p:cNvSpPr>
            <a:spLocks noGrp="1"/>
          </p:cNvSpPr>
          <p:nvPr>
            <p:ph type="title"/>
          </p:nvPr>
        </p:nvSpPr>
        <p:spPr>
          <a:xfrm>
            <a:off x="838200" y="365126"/>
            <a:ext cx="10515600" cy="676866"/>
          </a:xfrm>
        </p:spPr>
        <p:txBody>
          <a:bodyPr>
            <a:normAutofit fontScale="90000"/>
          </a:bodyPr>
          <a:lstStyle/>
          <a:p>
            <a:r>
              <a:rPr lang="tr-TR" dirty="0"/>
              <a:t>Yapılabilecek Değişiklik</a:t>
            </a:r>
          </a:p>
        </p:txBody>
      </p:sp>
      <p:sp>
        <p:nvSpPr>
          <p:cNvPr id="3" name="İçerik Yer Tutucusu 2">
            <a:extLst>
              <a:ext uri="{FF2B5EF4-FFF2-40B4-BE49-F238E27FC236}">
                <a16:creationId xmlns:a16="http://schemas.microsoft.com/office/drawing/2014/main" id="{35C71D96-1DD7-408C-DB2E-12C16EFE6845}"/>
              </a:ext>
            </a:extLst>
          </p:cNvPr>
          <p:cNvSpPr>
            <a:spLocks noGrp="1"/>
          </p:cNvSpPr>
          <p:nvPr>
            <p:ph idx="1"/>
          </p:nvPr>
        </p:nvSpPr>
        <p:spPr>
          <a:xfrm>
            <a:off x="838200" y="1233377"/>
            <a:ext cx="10515600" cy="4943586"/>
          </a:xfrm>
        </p:spPr>
        <p:txBody>
          <a:bodyPr/>
          <a:lstStyle/>
          <a:p>
            <a:r>
              <a:rPr lang="tr-TR" dirty="0"/>
              <a:t>Çok fazla </a:t>
            </a:r>
            <a:r>
              <a:rPr lang="tr-TR" dirty="0" err="1"/>
              <a:t>timestepim</a:t>
            </a:r>
            <a:r>
              <a:rPr lang="tr-TR" dirty="0"/>
              <a:t> olmadığı için(haftalık </a:t>
            </a:r>
            <a:r>
              <a:rPr lang="tr-TR" dirty="0" err="1"/>
              <a:t>resampleda</a:t>
            </a:r>
            <a:r>
              <a:rPr lang="tr-TR" dirty="0"/>
              <a:t> girdim 40 civarı </a:t>
            </a:r>
            <a:r>
              <a:rPr lang="tr-TR" dirty="0" err="1"/>
              <a:t>timestepden</a:t>
            </a:r>
            <a:r>
              <a:rPr lang="tr-TR" dirty="0"/>
              <a:t> oluşuyordu) geçmiş n </a:t>
            </a:r>
            <a:r>
              <a:rPr lang="tr-TR" dirty="0" err="1"/>
              <a:t>timestep</a:t>
            </a:r>
            <a:r>
              <a:rPr lang="tr-TR" dirty="0"/>
              <a:t> e bakıp bir sonraki </a:t>
            </a:r>
            <a:r>
              <a:rPr lang="tr-TR" dirty="0" err="1"/>
              <a:t>timestep</a:t>
            </a:r>
            <a:r>
              <a:rPr lang="tr-TR" dirty="0"/>
              <a:t> için tahmin </a:t>
            </a:r>
            <a:r>
              <a:rPr lang="tr-TR" dirty="0" err="1"/>
              <a:t>yaptım.İleride</a:t>
            </a:r>
            <a:r>
              <a:rPr lang="tr-TR" dirty="0"/>
              <a:t> daha karmaşık veri setleri ve yöntemlerle daha ilerisi için tahmin yapmak denenebilecek bir test.</a:t>
            </a:r>
          </a:p>
        </p:txBody>
      </p:sp>
    </p:spTree>
    <p:extLst>
      <p:ext uri="{BB962C8B-B14F-4D97-AF65-F5344CB8AC3E}">
        <p14:creationId xmlns:p14="http://schemas.microsoft.com/office/powerpoint/2010/main" val="1332729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C7711840-4CC8-B920-4554-2316C14E4C5F}"/>
              </a:ext>
            </a:extLst>
          </p:cNvPr>
          <p:cNvSpPr>
            <a:spLocks noGrp="1"/>
          </p:cNvSpPr>
          <p:nvPr>
            <p:ph type="title"/>
          </p:nvPr>
        </p:nvSpPr>
        <p:spPr>
          <a:xfrm>
            <a:off x="1371597" y="348865"/>
            <a:ext cx="10044023" cy="877729"/>
          </a:xfrm>
        </p:spPr>
        <p:txBody>
          <a:bodyPr anchor="ctr">
            <a:normAutofit/>
          </a:bodyPr>
          <a:lstStyle/>
          <a:p>
            <a:r>
              <a:rPr lang="tr-TR" sz="4000">
                <a:solidFill>
                  <a:srgbClr val="FFFFFF"/>
                </a:solidFill>
              </a:rPr>
              <a:t>DİNLEDİĞİNİZ İÇİN TEŞEKKÜR EDERİM</a:t>
            </a:r>
          </a:p>
        </p:txBody>
      </p:sp>
      <p:graphicFrame>
        <p:nvGraphicFramePr>
          <p:cNvPr id="5" name="İçerik Yer Tutucusu 2">
            <a:extLst>
              <a:ext uri="{FF2B5EF4-FFF2-40B4-BE49-F238E27FC236}">
                <a16:creationId xmlns:a16="http://schemas.microsoft.com/office/drawing/2014/main" id="{B5D6CB86-D388-9CA2-22E4-F54AD6A24A89}"/>
              </a:ext>
            </a:extLst>
          </p:cNvPr>
          <p:cNvGraphicFramePr>
            <a:graphicFrameLocks noGrp="1"/>
          </p:cNvGraphicFramePr>
          <p:nvPr>
            <p:ph idx="1"/>
            <p:extLst>
              <p:ext uri="{D42A27DB-BD31-4B8C-83A1-F6EECF244321}">
                <p14:modId xmlns:p14="http://schemas.microsoft.com/office/powerpoint/2010/main" val="179195840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46825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680</Words>
  <Application>Microsoft Office PowerPoint</Application>
  <PresentationFormat>Geniş ekran</PresentationFormat>
  <Paragraphs>42</Paragraphs>
  <Slides>17</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17</vt:i4>
      </vt:variant>
    </vt:vector>
  </HeadingPairs>
  <TitlesOfParts>
    <vt:vector size="21" baseType="lpstr">
      <vt:lpstr>Aptos</vt:lpstr>
      <vt:lpstr>Aptos Display</vt:lpstr>
      <vt:lpstr>Arial</vt:lpstr>
      <vt:lpstr>Office Teması</vt:lpstr>
      <vt:lpstr>470 PROJE SUNUMU</vt:lpstr>
      <vt:lpstr>PowerPoint Sunusu</vt:lpstr>
      <vt:lpstr>Verisetleri ve ham veri örnekleri</vt:lpstr>
      <vt:lpstr>Verisetleri ve Ham Veri Örnekleri-2 signif.earthquake.csv(1900-2023 arası depremler</vt:lpstr>
      <vt:lpstr>Bu veriler hangi aşamalardan geçti?Yöntemlerimiz</vt:lpstr>
      <vt:lpstr>PREPROCESSDE ÖNEMLİ FARKLILIKLAR</vt:lpstr>
      <vt:lpstr>HİPERPARAMETRE OPTİMİZASYONU VE METRİKLER</vt:lpstr>
      <vt:lpstr>RF-XGBOOST VE MLP(gelişmiş hali ile beraber) OPTİMAL HİPERPARAMETRE DEĞERLERİ(SOLDAN SAĞA)</vt:lpstr>
      <vt:lpstr>LSTM MODEL OPTİMAL HİPERPARAMETRELERİ(Soldan SağaDataset1 için Normal LSTM,LSTM+Attention,aynısı Dataset2 için de geçerli)</vt:lpstr>
      <vt:lpstr>Random Forest Metrikleri(Dataset 1-2,üstten alta klasik,threshold ve konum)</vt:lpstr>
      <vt:lpstr>XGBOOST METRİKLERİ(Üstten Alta Aynı Şekilde)</vt:lpstr>
      <vt:lpstr>MLP Metrikleri</vt:lpstr>
      <vt:lpstr>NORMAL LSTM METRİKLERİ(Dataset1-2)</vt:lpstr>
      <vt:lpstr>LSTM+Attention Metrikleri(Dataset 1-2)</vt:lpstr>
      <vt:lpstr>ÖZET VE SONUÇ</vt:lpstr>
      <vt:lpstr>Yapılabilecek Değişiklik</vt:lpstr>
      <vt:lpstr>DİNLEDİĞİNİZ İÇİN TEŞEKKÜR EDERİM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Eren Budak</dc:creator>
  <cp:lastModifiedBy>Eren Budak</cp:lastModifiedBy>
  <cp:revision>1</cp:revision>
  <dcterms:created xsi:type="dcterms:W3CDTF">2025-07-28T18:00:41Z</dcterms:created>
  <dcterms:modified xsi:type="dcterms:W3CDTF">2025-07-28T20:03:16Z</dcterms:modified>
</cp:coreProperties>
</file>